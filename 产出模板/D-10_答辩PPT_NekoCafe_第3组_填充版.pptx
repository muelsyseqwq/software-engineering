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777240"/>
            <a:ext cx="2926080" cy="347472"/>
          </a:xfrm>
          <a:prstGeom prst="roundRect">
            <a:avLst/>
          </a:prstGeom>
          <a:solidFill>
            <a:srgbClr val="E8F4EC"/>
          </a:solidFill>
          <a:ln w="12700">
            <a:solidFill>
              <a:srgbClr val="E8F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841248"/>
            <a:ext cx="256032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100" b="1">
                <a:solidFill>
                  <a:srgbClr val="0E4F2B"/>
                </a:solidFill>
                <a:latin typeface="Microsoft YaHei"/>
              </a:rPr>
              <a:t>G03 · 软件工程课程设计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241280" cy="53035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1">
                <a:solidFill>
                  <a:srgbClr val="0E4F2B"/>
                </a:solidFill>
                <a:latin typeface="Microsoft YaHei"/>
              </a:rPr>
              <a:t>软件工程课程设计答辩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058400" cy="7132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3600" b="1">
                <a:solidFill>
                  <a:srgbClr val="1A7A3D"/>
                </a:solidFill>
                <a:latin typeface="Microsoft YaHei"/>
              </a:rPr>
              <a:t>NekoCafé 智慧餐饮预约平台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971800"/>
            <a:ext cx="9144000" cy="43891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0">
                <a:solidFill>
                  <a:srgbClr val="6B4F3A"/>
                </a:solidFill>
                <a:latin typeface="Microsoft YaHei"/>
              </a:rPr>
              <a:t>猫咪主题餐厅 · 预约点单 · 多角色履约 · 云端自动化部署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4560" y="3794760"/>
            <a:ext cx="822960" cy="292608"/>
          </a:xfrm>
          <a:prstGeom prst="roundRect">
            <a:avLst/>
          </a:prstGeom>
          <a:solidFill>
            <a:srgbClr val="E8F4EC"/>
          </a:solidFill>
          <a:ln w="6350">
            <a:solidFill>
              <a:srgbClr val="E8F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31136" y="3845052"/>
            <a:ext cx="749808" cy="182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E4F2B"/>
                </a:solidFill>
                <a:latin typeface="Microsoft YaHei"/>
              </a:rPr>
              <a:t>Vue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54680" y="3794760"/>
            <a:ext cx="1773936" cy="292608"/>
          </a:xfrm>
          <a:prstGeom prst="roundRect">
            <a:avLst/>
          </a:prstGeom>
          <a:solidFill>
            <a:srgbClr val="D7EEDF"/>
          </a:solidFill>
          <a:ln w="6350">
            <a:solidFill>
              <a:srgbClr val="D7EE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91256" y="3845052"/>
            <a:ext cx="1700784" cy="182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E4F2B"/>
                </a:solidFill>
                <a:latin typeface="Microsoft YaHei"/>
              </a:rPr>
              <a:t>Spring Boot 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794760"/>
            <a:ext cx="1060704" cy="292608"/>
          </a:xfrm>
          <a:prstGeom prst="roundRect">
            <a:avLst/>
          </a:prstGeom>
          <a:solidFill>
            <a:srgbClr val="E8F4EC"/>
          </a:solidFill>
          <a:ln w="6350">
            <a:solidFill>
              <a:srgbClr val="E8F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6" y="3845052"/>
            <a:ext cx="987552" cy="182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E4F2B"/>
                </a:solidFill>
                <a:latin typeface="Microsoft YaHei"/>
              </a:rPr>
              <a:t>MySQL 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32120" y="3794760"/>
            <a:ext cx="941832" cy="292608"/>
          </a:xfrm>
          <a:prstGeom prst="roundRect">
            <a:avLst/>
          </a:prstGeom>
          <a:solidFill>
            <a:srgbClr val="D7EEDF"/>
          </a:solidFill>
          <a:ln w="6350">
            <a:solidFill>
              <a:srgbClr val="D7EE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68696" y="3845052"/>
            <a:ext cx="868680" cy="182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E4F2B"/>
                </a:solidFill>
                <a:latin typeface="Microsoft YaHei"/>
              </a:rPr>
              <a:t>Docker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3794760"/>
            <a:ext cx="1892808" cy="292608"/>
          </a:xfrm>
          <a:prstGeom prst="roundRect">
            <a:avLst/>
          </a:prstGeom>
          <a:solidFill>
            <a:srgbClr val="E8F4EC"/>
          </a:solidFill>
          <a:ln w="6350">
            <a:solidFill>
              <a:srgbClr val="E8F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83096" y="3845052"/>
            <a:ext cx="1819656" cy="182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E4F2B"/>
                </a:solidFill>
                <a:latin typeface="Microsoft YaHei"/>
              </a:rPr>
              <a:t>GitHub Actions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3794760"/>
            <a:ext cx="1060704" cy="292608"/>
          </a:xfrm>
          <a:prstGeom prst="roundRect">
            <a:avLst/>
          </a:prstGeom>
          <a:solidFill>
            <a:srgbClr val="D7EEDF"/>
          </a:solidFill>
          <a:ln w="6350">
            <a:solidFill>
              <a:srgbClr val="D7EE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46136" y="3845052"/>
            <a:ext cx="987552" cy="182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E4F2B"/>
                </a:solidFill>
                <a:latin typeface="Microsoft YaHei"/>
              </a:rPr>
              <a:t>阿里云 ECS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892040"/>
            <a:ext cx="9509760" cy="310896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0">
                <a:solidFill>
                  <a:srgbClr val="666666"/>
                </a:solidFill>
                <a:latin typeface="Microsoft YaHei"/>
              </a:rPr>
              <a:t>第 3 组 G03  |  指导教师：王升  |  2026-06-13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5486400"/>
            <a:ext cx="1188720" cy="43891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3000" b="0">
                <a:solidFill>
                  <a:srgbClr val="1A7A3D"/>
                </a:solidFill>
                <a:latin typeface="Microsoft YaHei"/>
              </a:rPr>
              <a:t>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团队介绍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2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969264"/>
            <a:ext cx="676656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6B4F3A"/>
                </a:solidFill>
                <a:latin typeface="Microsoft YaHei"/>
              </a:rPr>
              <a:t>团队口号：让预约、点单、猫咪体验和门店运营形成一个可演示、可维护的完整闭环。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1874519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DF"/>
            </a:solidFill>
          </a:ln>
          <a:effectLst>
            <a:outerShdw blurRad="40000" dist="18000" dir="5400000" algn="ctr" rotWithShape="0">
              <a:srgbClr val="D0D0D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00784"/>
            <a:ext cx="1508760" cy="43891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0E4F2B"/>
                </a:solidFill>
                <a:latin typeface="Microsoft YaHei"/>
              </a:rPr>
              <a:t>杨昊田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04288"/>
            <a:ext cx="150876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2B2B2B"/>
                </a:solidFill>
                <a:latin typeface="Microsoft YaHei"/>
              </a:rPr>
              <a:t>组长 / 顾客主流程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3063240"/>
            <a:ext cx="1545336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0">
                <a:solidFill>
                  <a:srgbClr val="666666"/>
                </a:solidFill>
                <a:latin typeface="Microsoft YaHei"/>
              </a:rPr>
              <a:t>公共架构、认证、集成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4224528"/>
            <a:ext cx="548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>
                <a:solidFill>
                  <a:srgbClr val="1A7A3D"/>
                </a:solidFill>
                <a:latin typeface="Microsoft YaHei"/>
              </a:rPr>
              <a:t>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508760"/>
            <a:ext cx="1874519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DF"/>
            </a:solidFill>
          </a:ln>
          <a:effectLst>
            <a:outerShdw blurRad="40000" dist="18000" dir="5400000" algn="ctr" rotWithShape="0">
              <a:srgbClr val="D0D0D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1700784"/>
            <a:ext cx="1508760" cy="43891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0E4F2B"/>
                </a:solidFill>
                <a:latin typeface="Microsoft YaHei"/>
              </a:rPr>
              <a:t>张晓辉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304288"/>
            <a:ext cx="150876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2B2B2B"/>
                </a:solidFill>
                <a:latin typeface="Microsoft YaHei"/>
              </a:rPr>
              <a:t>店员模块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3512" y="3063240"/>
            <a:ext cx="1545336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0">
                <a:solidFill>
                  <a:srgbClr val="666666"/>
                </a:solidFill>
                <a:latin typeface="Microsoft YaHei"/>
              </a:rPr>
              <a:t>测试与联调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4224528"/>
            <a:ext cx="548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>
                <a:solidFill>
                  <a:srgbClr val="1A7A3D"/>
                </a:solidFill>
                <a:latin typeface="Microsoft YaHei"/>
              </a:rPr>
              <a:t>🐱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83480" y="1508760"/>
            <a:ext cx="1874519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DF"/>
            </a:solidFill>
          </a:ln>
          <a:effectLst>
            <a:outerShdw blurRad="40000" dist="18000" dir="5400000" algn="ctr" rotWithShape="0">
              <a:srgbClr val="D0D0D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66360" y="1700784"/>
            <a:ext cx="1508760" cy="43891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0E4F2B"/>
                </a:solidFill>
                <a:latin typeface="Microsoft YaHei"/>
              </a:rPr>
              <a:t>赵禹昊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66360" y="2304288"/>
            <a:ext cx="150876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2B2B2B"/>
                </a:solidFill>
                <a:latin typeface="Microsoft YaHei"/>
              </a:rPr>
              <a:t>猫咪管家模块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48072" y="3063240"/>
            <a:ext cx="1545336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0">
                <a:solidFill>
                  <a:srgbClr val="666666"/>
                </a:solidFill>
                <a:latin typeface="Microsoft YaHei"/>
              </a:rPr>
              <a:t>UI/UX 与文档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50992" y="4224528"/>
            <a:ext cx="548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>
                <a:solidFill>
                  <a:srgbClr val="1A7A3D"/>
                </a:solidFill>
                <a:latin typeface="Microsoft YaHei"/>
              </a:rPr>
              <a:t>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78040" y="1508760"/>
            <a:ext cx="1874519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DF"/>
            </a:solidFill>
          </a:ln>
          <a:effectLst>
            <a:outerShdw blurRad="40000" dist="18000" dir="5400000" algn="ctr" rotWithShape="0">
              <a:srgbClr val="D0D0D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60919" y="1700784"/>
            <a:ext cx="1508760" cy="43891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0E4F2B"/>
                </a:solidFill>
                <a:latin typeface="Microsoft YaHei"/>
              </a:rPr>
              <a:t>张森柏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19" y="2304288"/>
            <a:ext cx="150876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2B2B2B"/>
                </a:solidFill>
                <a:latin typeface="Microsoft YaHei"/>
              </a:rPr>
              <a:t>店长模块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42631" y="3063240"/>
            <a:ext cx="1545336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0">
                <a:solidFill>
                  <a:srgbClr val="666666"/>
                </a:solidFill>
                <a:latin typeface="Microsoft YaHei"/>
              </a:rPr>
              <a:t>数据库与门店数据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45552" y="4224528"/>
            <a:ext cx="548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>
                <a:solidFill>
                  <a:srgbClr val="1A7A3D"/>
                </a:solidFill>
                <a:latin typeface="Microsoft YaHei"/>
              </a:rPr>
              <a:t>🐱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72600" y="1508760"/>
            <a:ext cx="1874519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DF"/>
            </a:solidFill>
          </a:ln>
          <a:effectLst>
            <a:outerShdw blurRad="40000" dist="18000" dir="5400000" algn="ctr" rotWithShape="0">
              <a:srgbClr val="D0D0D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1700784"/>
            <a:ext cx="1508760" cy="43891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0E4F2B"/>
                </a:solidFill>
                <a:latin typeface="Microsoft YaHei"/>
              </a:rPr>
              <a:t>陶浩然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2304288"/>
            <a:ext cx="1508760" cy="5029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2B2B2B"/>
                </a:solidFill>
                <a:latin typeface="Microsoft YaHei"/>
              </a:rPr>
              <a:t>总部运营 / 管理员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37192" y="3063240"/>
            <a:ext cx="1545336" cy="8229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0">
                <a:solidFill>
                  <a:srgbClr val="666666"/>
                </a:solidFill>
                <a:latin typeface="Microsoft YaHei"/>
              </a:rPr>
              <a:t>数据看板、部署与答辩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40112" y="4224528"/>
            <a:ext cx="54864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0">
                <a:solidFill>
                  <a:srgbClr val="1A7A3D"/>
                </a:solidFill>
                <a:latin typeface="Microsoft YaHei"/>
              </a:rPr>
              <a:t>🐱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6327648"/>
            <a:ext cx="438912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888888"/>
                </a:solidFill>
                <a:latin typeface="Microsoft YaHei"/>
              </a:rPr>
              <a:t>资料：T-02 团队组建申报表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项目背景与目标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3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32918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AE1"/>
            </a:solidFill>
          </a:ln>
          <a:effectLst>
            <a:outerShdw blurRad="40000" dist="18000" dir="5400000" algn="ctr" rotWithShape="0">
              <a:srgbClr val="D0D0D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0392" y="1307592"/>
            <a:ext cx="384048" cy="384048"/>
          </a:xfrm>
          <a:prstGeom prst="ellipse">
            <a:avLst/>
          </a:prstGeom>
          <a:solidFill>
            <a:srgbClr val="C9544A"/>
          </a:solidFill>
          <a:ln w="6350">
            <a:solidFill>
              <a:srgbClr val="C95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316736"/>
            <a:ext cx="384048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1271016"/>
            <a:ext cx="246888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E4F2B"/>
                </a:solidFill>
                <a:latin typeface="Microsoft YaHei"/>
              </a:rPr>
              <a:t>行业痛点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1737360"/>
            <a:ext cx="2880360" cy="1161287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2B2B2B"/>
                </a:solidFill>
                <a:latin typeface="Microsoft YaHei"/>
              </a:rPr>
              <a:t>人工预约易冲突，排队体验不稳定；门店运营数据分散，猫咪健康与互动体验缺少系统化沉淀。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143000"/>
            <a:ext cx="32918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AE1"/>
            </a:solidFill>
          </a:ln>
          <a:effectLst>
            <a:outerShdw blurRad="40000" dist="18000" dir="5400000" algn="ctr" rotWithShape="0">
              <a:srgbClr val="D0D0D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16552" y="1307592"/>
            <a:ext cx="384048" cy="384048"/>
          </a:xfrm>
          <a:prstGeom prst="ellipse">
            <a:avLst/>
          </a:prstGeom>
          <a:solidFill>
            <a:srgbClr val="1A7A3D"/>
          </a:solidFill>
          <a:ln w="6350">
            <a:solidFill>
              <a:srgbClr val="1A7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16552" y="1316736"/>
            <a:ext cx="384048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0328" y="1271016"/>
            <a:ext cx="246888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E4F2B"/>
                </a:solidFill>
                <a:latin typeface="Microsoft YaHei"/>
              </a:rPr>
              <a:t>目标用户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1416" y="1737360"/>
            <a:ext cx="2880360" cy="1161287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2B2B2B"/>
                </a:solidFill>
                <a:latin typeface="Microsoft YaHei"/>
              </a:rPr>
              <a:t>顾客、店员、猫咪管家、店长、总部运营/管理员五类角色，各自拥有清晰入口与权限边界。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1143000"/>
            <a:ext cx="329184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AE1"/>
            </a:solidFill>
          </a:ln>
          <a:effectLst>
            <a:outerShdw blurRad="40000" dist="18000" dir="5400000" algn="ctr" rotWithShape="0">
              <a:srgbClr val="D0D0D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982712" y="1307592"/>
            <a:ext cx="384048" cy="384048"/>
          </a:xfrm>
          <a:prstGeom prst="ellipse">
            <a:avLst/>
          </a:prstGeom>
          <a:solidFill>
            <a:srgbClr val="2A6F97"/>
          </a:solidFill>
          <a:ln w="6350"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82712" y="1316736"/>
            <a:ext cx="384048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6488" y="1271016"/>
            <a:ext cx="246888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E4F2B"/>
                </a:solidFill>
                <a:latin typeface="Microsoft YaHei"/>
              </a:rPr>
              <a:t>建设目标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37576" y="1737360"/>
            <a:ext cx="2880360" cy="1161287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2B2B2B"/>
                </a:solidFill>
                <a:latin typeface="Microsoft YaHei"/>
              </a:rPr>
              <a:t>完成从预约、点单、支付、签到、履约到运营分析的端到端闭环，并可通过 Docker/云端部署演示。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3794760"/>
            <a:ext cx="9509760" cy="1097280"/>
          </a:xfrm>
          <a:prstGeom prst="roundRect">
            <a:avLst/>
          </a:prstGeom>
          <a:solidFill>
            <a:srgbClr val="0E4F2B"/>
          </a:solidFill>
          <a:ln w="12700">
            <a:solidFill>
              <a:srgbClr val="0E4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8760" y="4050791"/>
            <a:ext cx="8686800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</a:rPr>
              <a:t>一句话定位：面向猫咖真实场景的智慧餐饮预约与运营平台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6327648"/>
            <a:ext cx="438912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888888"/>
                </a:solidFill>
                <a:latin typeface="Microsoft YaHei"/>
              </a:rPr>
              <a:t>资料：README、T-01 选题申报表、SRS 摘要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需求亮点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4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115568"/>
            <a:ext cx="2011680" cy="1078992"/>
          </a:xfrm>
          <a:prstGeom prst="roundRect">
            <a:avLst/>
          </a:prstGeom>
          <a:solidFill>
            <a:srgbClr val="E8F4EC"/>
          </a:solidFill>
          <a:ln w="12700">
            <a:solidFill>
              <a:srgbClr val="D5E5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261872"/>
            <a:ext cx="17373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E4F2B"/>
                </a:solidFill>
                <a:latin typeface="Microsoft YaHei"/>
              </a:rPr>
              <a:t>预约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645920"/>
            <a:ext cx="179222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30" b="0">
                <a:solidFill>
                  <a:srgbClr val="666666"/>
                </a:solidFill>
                <a:latin typeface="Microsoft YaHei"/>
              </a:rPr>
              <a:t>门店 / 桌位 / 时段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16352" y="1655064"/>
            <a:ext cx="576072" cy="0"/>
          </a:xfrm>
          <a:prstGeom prst="line">
            <a:avLst/>
          </a:prstGeom>
          <a:ln w="25400">
            <a:solidFill>
              <a:srgbClr val="D7A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520440" y="1115568"/>
            <a:ext cx="2011680" cy="1078992"/>
          </a:xfrm>
          <a:prstGeom prst="roundRect">
            <a:avLst/>
          </a:prstGeom>
          <a:solidFill>
            <a:srgbClr val="FFFBF2"/>
          </a:solidFill>
          <a:ln w="12700">
            <a:solidFill>
              <a:srgbClr val="D5E5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261872"/>
            <a:ext cx="17373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E4F2B"/>
                </a:solidFill>
                <a:latin typeface="Microsoft YaHei"/>
              </a:rPr>
              <a:t>点单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0168" y="1645920"/>
            <a:ext cx="179222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30" b="0">
                <a:solidFill>
                  <a:srgbClr val="666666"/>
                </a:solidFill>
                <a:latin typeface="Microsoft YaHei"/>
              </a:rPr>
              <a:t>菜单 / 购物车 / 订单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559552" y="1655064"/>
            <a:ext cx="576072" cy="0"/>
          </a:xfrm>
          <a:prstGeom prst="line">
            <a:avLst/>
          </a:prstGeom>
          <a:ln w="25400">
            <a:solidFill>
              <a:srgbClr val="D7A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263640" y="1115568"/>
            <a:ext cx="2011680" cy="1078992"/>
          </a:xfrm>
          <a:prstGeom prst="roundRect">
            <a:avLst/>
          </a:prstGeom>
          <a:solidFill>
            <a:srgbClr val="E8F4EC"/>
          </a:solidFill>
          <a:ln w="12700">
            <a:solidFill>
              <a:srgbClr val="D5E5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261872"/>
            <a:ext cx="17373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E4F2B"/>
                </a:solidFill>
                <a:latin typeface="Microsoft YaHei"/>
              </a:rPr>
              <a:t>履约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1645920"/>
            <a:ext cx="179222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30" b="0">
                <a:solidFill>
                  <a:srgbClr val="666666"/>
                </a:solidFill>
                <a:latin typeface="Microsoft YaHei"/>
              </a:rPr>
              <a:t>签到 / 制作 / 完成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302752" y="1655064"/>
            <a:ext cx="576072" cy="0"/>
          </a:xfrm>
          <a:prstGeom prst="line">
            <a:avLst/>
          </a:prstGeom>
          <a:ln w="25400">
            <a:solidFill>
              <a:srgbClr val="D7A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006840" y="1115568"/>
            <a:ext cx="2011680" cy="1078992"/>
          </a:xfrm>
          <a:prstGeom prst="roundRect">
            <a:avLst/>
          </a:prstGeom>
          <a:solidFill>
            <a:srgbClr val="FFFBF2"/>
          </a:solidFill>
          <a:ln w="12700">
            <a:solidFill>
              <a:srgbClr val="D5E5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0" y="1261872"/>
            <a:ext cx="17373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E4F2B"/>
                </a:solidFill>
                <a:latin typeface="Microsoft YaHei"/>
              </a:rPr>
              <a:t>运营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16567" y="1645920"/>
            <a:ext cx="1792224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30" b="0">
                <a:solidFill>
                  <a:srgbClr val="666666"/>
                </a:solidFill>
                <a:latin typeface="Microsoft YaHei"/>
              </a:rPr>
              <a:t>会员 / 活动 / 看板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2514600"/>
            <a:ext cx="102412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>
                <a:solidFill>
                  <a:srgbClr val="0E4F2B"/>
                </a:solidFill>
                <a:latin typeface="Microsoft YaHei"/>
              </a:rPr>
              <a:t>三条核心业务链路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2907792"/>
            <a:ext cx="3154680" cy="1517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3072384"/>
            <a:ext cx="384048" cy="384048"/>
          </a:xfrm>
          <a:prstGeom prst="ellipse">
            <a:avLst/>
          </a:prstGeom>
          <a:solidFill>
            <a:srgbClr val="1A7A3D"/>
          </a:solidFill>
          <a:ln w="6350">
            <a:solidFill>
              <a:srgbClr val="1A7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118104"/>
            <a:ext cx="38404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08176" y="3026664"/>
            <a:ext cx="23317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520" b="1">
                <a:solidFill>
                  <a:srgbClr val="0E4F2B"/>
                </a:solidFill>
                <a:latin typeface="Microsoft YaHei"/>
              </a:rPr>
              <a:t>顾客主链路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7" y="3584448"/>
            <a:ext cx="269748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120" b="0">
                <a:solidFill>
                  <a:srgbClr val="2B2B2B"/>
                </a:solidFill>
                <a:latin typeface="Microsoft YaHei"/>
              </a:rPr>
              <a:t>登录 → 浏览门店 → 预约 → 点单支付 → 历史订单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2907792"/>
            <a:ext cx="3154680" cy="1517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16552" y="3072384"/>
            <a:ext cx="384048" cy="384048"/>
          </a:xfrm>
          <a:prstGeom prst="ellipse">
            <a:avLst/>
          </a:prstGeom>
          <a:solidFill>
            <a:srgbClr val="D7A43B"/>
          </a:solidFill>
          <a:ln w="6350">
            <a:solidFill>
              <a:srgbClr val="D7A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16552" y="3118104"/>
            <a:ext cx="38404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10328" y="3026664"/>
            <a:ext cx="23317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520" b="1">
                <a:solidFill>
                  <a:srgbClr val="0E4F2B"/>
                </a:solidFill>
                <a:latin typeface="Microsoft YaHei"/>
              </a:rPr>
              <a:t>门店履约链路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3584448"/>
            <a:ext cx="269748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120" b="0">
                <a:solidFill>
                  <a:srgbClr val="2B2B2B"/>
                </a:solidFill>
                <a:latin typeface="Microsoft YaHei"/>
              </a:rPr>
              <a:t>店员接单/制作/完成；店长维护门店、桌位、菜品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54112" y="2907792"/>
            <a:ext cx="3154680" cy="15179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18704" y="3072384"/>
            <a:ext cx="384048" cy="384048"/>
          </a:xfrm>
          <a:prstGeom prst="ellipse">
            <a:avLst/>
          </a:prstGeom>
          <a:solidFill>
            <a:srgbClr val="2A6F97"/>
          </a:solidFill>
          <a:ln w="6350"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18704" y="3118104"/>
            <a:ext cx="384048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026664"/>
            <a:ext cx="233172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520" b="1">
                <a:solidFill>
                  <a:srgbClr val="0E4F2B"/>
                </a:solidFill>
                <a:latin typeface="Microsoft YaHei"/>
              </a:rPr>
              <a:t>运营管理链路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82712" y="3584448"/>
            <a:ext cx="2697480" cy="47548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120" b="0">
                <a:solidFill>
                  <a:srgbClr val="2B2B2B"/>
                </a:solidFill>
                <a:latin typeface="Microsoft YaHei"/>
              </a:rPr>
              <a:t>猫咪健康、活动运营、会员积分、总部看板与权限治理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6327648"/>
            <a:ext cx="43891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888888"/>
                </a:solidFill>
                <a:latin typeface="Microsoft YaHei"/>
              </a:rPr>
              <a:t>亮点：多角色闭环 + 真实业务约束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系统总体架构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5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097280"/>
            <a:ext cx="2194560" cy="3474720"/>
          </a:xfrm>
          <a:prstGeom prst="roundRect">
            <a:avLst/>
          </a:prstGeom>
          <a:solidFill>
            <a:srgbClr val="FFFBF2"/>
          </a:solidFill>
          <a:ln w="12700">
            <a:solidFill>
              <a:srgbClr val="D6E6DA"/>
            </a:solidFill>
          </a:ln>
          <a:effectLst>
            <a:outerShdw blurRad="40000" dist="18000" dir="5400000" algn="ctr" rotWithShape="0">
              <a:srgbClr val="D0D0D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298448"/>
            <a:ext cx="192024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0E4F2B"/>
                </a:solidFill>
                <a:latin typeface="Microsoft YaHei"/>
              </a:rPr>
              <a:t>前端层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47088"/>
            <a:ext cx="1645919" cy="2560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220">
                <a:solidFill>
                  <a:srgbClr val="2B2B2B"/>
                </a:solidFill>
                <a:latin typeface="Microsoft YaHei"/>
              </a:rPr>
              <a:t>• Vue 3 / Vite</a:t>
            </a:r>
          </a:p>
          <a:p>
            <a:pPr>
              <a:spcAft>
                <a:spcPts val="400"/>
              </a:spcAft>
            </a:pPr>
            <a:r>
              <a:rPr sz="1220">
                <a:solidFill>
                  <a:srgbClr val="2B2B2B"/>
                </a:solidFill>
                <a:latin typeface="Microsoft YaHei"/>
              </a:rPr>
              <a:t>• TypeScript</a:t>
            </a:r>
          </a:p>
          <a:p>
            <a:pPr>
              <a:spcAft>
                <a:spcPts val="400"/>
              </a:spcAft>
            </a:pPr>
            <a:r>
              <a:rPr sz="1220">
                <a:solidFill>
                  <a:srgbClr val="2B2B2B"/>
                </a:solidFill>
                <a:latin typeface="Microsoft YaHei"/>
              </a:rPr>
              <a:t>• Element Plus</a:t>
            </a:r>
          </a:p>
          <a:p>
            <a:pPr>
              <a:spcAft>
                <a:spcPts val="400"/>
              </a:spcAft>
            </a:pPr>
            <a:r>
              <a:rPr sz="1220">
                <a:solidFill>
                  <a:srgbClr val="2B2B2B"/>
                </a:solidFill>
                <a:latin typeface="Microsoft YaHei"/>
              </a:rPr>
              <a:t>• Pinia / Router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71800" y="2761488"/>
            <a:ext cx="365760" cy="0"/>
          </a:xfrm>
          <a:prstGeom prst="line">
            <a:avLst/>
          </a:prstGeom>
          <a:ln w="29209">
            <a:solidFill>
              <a:srgbClr val="1A7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337560" y="1097280"/>
            <a:ext cx="2560320" cy="3474720"/>
          </a:xfrm>
          <a:prstGeom prst="roundRect">
            <a:avLst/>
          </a:prstGeom>
          <a:solidFill>
            <a:srgbClr val="E8F4EC"/>
          </a:solidFill>
          <a:ln w="12700">
            <a:solidFill>
              <a:srgbClr val="D6E6DA"/>
            </a:solidFill>
          </a:ln>
          <a:effectLst>
            <a:outerShdw blurRad="40000" dist="18000" dir="5400000" algn="ctr" rotWithShape="0">
              <a:srgbClr val="D0D0D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298448"/>
            <a:ext cx="228600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0E4F2B"/>
                </a:solidFill>
                <a:latin typeface="Microsoft YaHei"/>
              </a:rPr>
              <a:t>接口与安全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79" y="1847088"/>
            <a:ext cx="2011679" cy="2560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220">
                <a:solidFill>
                  <a:srgbClr val="2B2B2B"/>
                </a:solidFill>
                <a:latin typeface="Microsoft YaHei"/>
              </a:rPr>
              <a:t>• REST API</a:t>
            </a:r>
          </a:p>
          <a:p>
            <a:pPr>
              <a:spcAft>
                <a:spcPts val="400"/>
              </a:spcAft>
            </a:pPr>
            <a:r>
              <a:rPr sz="1220">
                <a:solidFill>
                  <a:srgbClr val="2B2B2B"/>
                </a:solidFill>
                <a:latin typeface="Microsoft YaHei"/>
              </a:rPr>
              <a:t>• JWT Token</a:t>
            </a:r>
          </a:p>
          <a:p>
            <a:pPr>
              <a:spcAft>
                <a:spcPts val="400"/>
              </a:spcAft>
            </a:pPr>
            <a:r>
              <a:rPr sz="1220">
                <a:solidFill>
                  <a:srgbClr val="2B2B2B"/>
                </a:solidFill>
                <a:latin typeface="Microsoft YaHei"/>
              </a:rPr>
              <a:t>• 角色权限</a:t>
            </a:r>
          </a:p>
          <a:p>
            <a:pPr>
              <a:spcAft>
                <a:spcPts val="400"/>
              </a:spcAft>
            </a:pPr>
            <a:r>
              <a:rPr sz="1220">
                <a:solidFill>
                  <a:srgbClr val="2B2B2B"/>
                </a:solidFill>
                <a:latin typeface="Microsoft YaHei"/>
              </a:rPr>
              <a:t>• 统一响应 / 异常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43599" y="2761488"/>
            <a:ext cx="365760" cy="0"/>
          </a:xfrm>
          <a:prstGeom prst="line">
            <a:avLst/>
          </a:prstGeom>
          <a:ln w="29209">
            <a:solidFill>
              <a:srgbClr val="1A7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309360" y="1097280"/>
            <a:ext cx="22402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6DA"/>
            </a:solidFill>
          </a:ln>
          <a:effectLst>
            <a:outerShdw blurRad="40000" dist="18000" dir="5400000" algn="ctr" rotWithShape="0">
              <a:srgbClr val="D0D0D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298448"/>
            <a:ext cx="19659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0E4F2B"/>
                </a:solidFill>
                <a:latin typeface="Microsoft YaHei"/>
              </a:rPr>
              <a:t>业务服务层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847088"/>
            <a:ext cx="1691640" cy="2560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220">
                <a:solidFill>
                  <a:srgbClr val="2B2B2B"/>
                </a:solidFill>
                <a:latin typeface="Microsoft YaHei"/>
              </a:rPr>
              <a:t>• 预约 / 订单</a:t>
            </a:r>
          </a:p>
          <a:p>
            <a:pPr>
              <a:spcAft>
                <a:spcPts val="400"/>
              </a:spcAft>
            </a:pPr>
            <a:r>
              <a:rPr sz="1220">
                <a:solidFill>
                  <a:srgbClr val="2B2B2B"/>
                </a:solidFill>
                <a:latin typeface="Microsoft YaHei"/>
              </a:rPr>
              <a:t>• 支付 / 会员</a:t>
            </a:r>
          </a:p>
          <a:p>
            <a:pPr>
              <a:spcAft>
                <a:spcPts val="400"/>
              </a:spcAft>
            </a:pPr>
            <a:r>
              <a:rPr sz="1220">
                <a:solidFill>
                  <a:srgbClr val="2B2B2B"/>
                </a:solidFill>
                <a:latin typeface="Microsoft YaHei"/>
              </a:rPr>
              <a:t>• 猫咪 / 门店</a:t>
            </a:r>
          </a:p>
          <a:p>
            <a:pPr>
              <a:spcAft>
                <a:spcPts val="400"/>
              </a:spcAft>
            </a:pPr>
            <a:r>
              <a:rPr sz="1220">
                <a:solidFill>
                  <a:srgbClr val="2B2B2B"/>
                </a:solidFill>
                <a:latin typeface="Microsoft YaHei"/>
              </a:rPr>
              <a:t>• 看板 / 管理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595360" y="2761488"/>
            <a:ext cx="365760" cy="0"/>
          </a:xfrm>
          <a:prstGeom prst="line">
            <a:avLst/>
          </a:prstGeom>
          <a:ln w="29209">
            <a:solidFill>
              <a:srgbClr val="1A7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961120" y="1097280"/>
            <a:ext cx="2103120" cy="3474720"/>
          </a:xfrm>
          <a:prstGeom prst="roundRect">
            <a:avLst/>
          </a:prstGeom>
          <a:solidFill>
            <a:srgbClr val="D7EEDF"/>
          </a:solidFill>
          <a:ln w="12700">
            <a:solidFill>
              <a:srgbClr val="D6E6DA"/>
            </a:solidFill>
          </a:ln>
          <a:effectLst>
            <a:outerShdw blurRad="40000" dist="18000" dir="5400000" algn="ctr" rotWithShape="0">
              <a:srgbClr val="D0D0D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1298448"/>
            <a:ext cx="1828799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0E4F2B"/>
                </a:solidFill>
                <a:latin typeface="Microsoft YaHei"/>
              </a:rPr>
              <a:t>数据与部署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1847088"/>
            <a:ext cx="1554479" cy="2560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400"/>
              </a:spcAft>
            </a:pPr>
            <a:r>
              <a:rPr sz="1220">
                <a:solidFill>
                  <a:srgbClr val="2B2B2B"/>
                </a:solidFill>
                <a:latin typeface="Microsoft YaHei"/>
              </a:rPr>
              <a:t>• MySQL 8</a:t>
            </a:r>
          </a:p>
          <a:p>
            <a:pPr>
              <a:spcAft>
                <a:spcPts val="400"/>
              </a:spcAft>
            </a:pPr>
            <a:r>
              <a:rPr sz="1220">
                <a:solidFill>
                  <a:srgbClr val="2B2B2B"/>
                </a:solidFill>
                <a:latin typeface="Microsoft YaHei"/>
              </a:rPr>
              <a:t>• Flyway</a:t>
            </a:r>
          </a:p>
          <a:p>
            <a:pPr>
              <a:spcAft>
                <a:spcPts val="400"/>
              </a:spcAft>
            </a:pPr>
            <a:r>
              <a:rPr sz="1220">
                <a:solidFill>
                  <a:srgbClr val="2B2B2B"/>
                </a:solidFill>
                <a:latin typeface="Microsoft YaHei"/>
              </a:rPr>
              <a:t>• Redis</a:t>
            </a:r>
          </a:p>
          <a:p>
            <a:pPr>
              <a:spcAft>
                <a:spcPts val="400"/>
              </a:spcAft>
            </a:pPr>
            <a:r>
              <a:rPr sz="1220">
                <a:solidFill>
                  <a:srgbClr val="2B2B2B"/>
                </a:solidFill>
                <a:latin typeface="Microsoft YaHei"/>
              </a:rPr>
              <a:t>• Docker Compose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892040"/>
            <a:ext cx="10149840" cy="34747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6B4F3A"/>
                </a:solidFill>
                <a:latin typeface="Microsoft YaHei"/>
              </a:rPr>
              <a:t>架构取舍：课程项目采用模块化单体，降低部署复杂度，同时按业务域拆分保证可维护与可扩展。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6327648"/>
            <a:ext cx="438912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888888"/>
                </a:solidFill>
                <a:latin typeface="Microsoft YaHei"/>
              </a:rPr>
              <a:t>资料：D-03 架构设计说明、backend/pom.xml、frontend/package.json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数据库设计概览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6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2331720"/>
            <a:ext cx="3383280" cy="960120"/>
          </a:xfrm>
          <a:prstGeom prst="roundRect">
            <a:avLst/>
          </a:prstGeom>
          <a:solidFill>
            <a:srgbClr val="0E4F2B"/>
          </a:solidFill>
          <a:ln w="12700">
            <a:solidFill>
              <a:srgbClr val="0E4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43400" y="2578608"/>
            <a:ext cx="301752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NekoCafe 数据核心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325880"/>
            <a:ext cx="26517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35607"/>
            <a:ext cx="246888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0E4F2B"/>
                </a:solidFill>
                <a:latin typeface="Microsoft YaHei"/>
              </a:rPr>
              <a:t>用户权限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764792"/>
            <a:ext cx="246888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919" b="0">
                <a:solidFill>
                  <a:srgbClr val="666666"/>
                </a:solidFill>
                <a:latin typeface="Microsoft YaHei"/>
              </a:rPr>
              <a:t>user / role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051560"/>
            <a:ext cx="26517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161288"/>
            <a:ext cx="246888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0E4F2B"/>
                </a:solidFill>
                <a:latin typeface="Microsoft YaHei"/>
              </a:rPr>
              <a:t>门店桌位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490472"/>
            <a:ext cx="246888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919" b="0">
                <a:solidFill>
                  <a:srgbClr val="666666"/>
                </a:solidFill>
                <a:latin typeface="Microsoft YaHei"/>
              </a:rPr>
              <a:t>store / table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325880"/>
            <a:ext cx="26517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1435607"/>
            <a:ext cx="246888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0E4F2B"/>
                </a:solidFill>
                <a:latin typeface="Microsoft YaHei"/>
              </a:rPr>
              <a:t>预约库存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1764792"/>
            <a:ext cx="246888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919" b="0">
                <a:solidFill>
                  <a:srgbClr val="666666"/>
                </a:solidFill>
                <a:latin typeface="Microsoft YaHei"/>
              </a:rPr>
              <a:t>reservation_slot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675887"/>
            <a:ext cx="26517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785615"/>
            <a:ext cx="246888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0E4F2B"/>
                </a:solidFill>
                <a:latin typeface="Microsoft YaHei"/>
              </a:rPr>
              <a:t>订单支付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114800"/>
            <a:ext cx="246888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919" b="0">
                <a:solidFill>
                  <a:srgbClr val="666666"/>
                </a:solidFill>
                <a:latin typeface="Microsoft YaHei"/>
              </a:rPr>
              <a:t>food_order / payment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51960" y="3767328"/>
            <a:ext cx="26517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3877056"/>
            <a:ext cx="246888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0E4F2B"/>
                </a:solidFill>
                <a:latin typeface="Microsoft YaHei"/>
              </a:rPr>
              <a:t>猫咪健康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206240"/>
            <a:ext cx="246888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919" b="0">
                <a:solidFill>
                  <a:srgbClr val="666666"/>
                </a:solidFill>
                <a:latin typeface="Microsoft YaHei"/>
              </a:rPr>
              <a:t>cat / health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3675887"/>
            <a:ext cx="2651760" cy="7863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3785615"/>
            <a:ext cx="2468880" cy="2286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0E4F2B"/>
                </a:solidFill>
                <a:latin typeface="Microsoft YaHei"/>
              </a:rPr>
              <a:t>运营看板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4114800"/>
            <a:ext cx="2468880" cy="182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919" b="0">
                <a:solidFill>
                  <a:srgbClr val="666666"/>
                </a:solidFill>
                <a:latin typeface="Microsoft YaHei"/>
              </a:rPr>
              <a:t>dashboard / activity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474720" y="1719072"/>
            <a:ext cx="685800" cy="822960"/>
          </a:xfrm>
          <a:prstGeom prst="line">
            <a:avLst/>
          </a:prstGeom>
          <a:ln w="11430">
            <a:solidFill>
              <a:srgbClr val="C4D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12280" y="1664208"/>
            <a:ext cx="731520" cy="877824"/>
          </a:xfrm>
          <a:prstGeom prst="line">
            <a:avLst/>
          </a:prstGeom>
          <a:ln w="11430">
            <a:solidFill>
              <a:srgbClr val="C4D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3474720" y="3063240"/>
            <a:ext cx="685800" cy="1005840"/>
          </a:xfrm>
          <a:prstGeom prst="line">
            <a:avLst/>
          </a:prstGeom>
          <a:ln w="11430">
            <a:solidFill>
              <a:srgbClr val="C4D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6812280" y="3063240"/>
            <a:ext cx="731520" cy="1005840"/>
          </a:xfrm>
          <a:prstGeom prst="line">
            <a:avLst/>
          </a:prstGeom>
          <a:ln w="11430">
            <a:solidFill>
              <a:srgbClr val="C4D8C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31520" y="4965192"/>
            <a:ext cx="1033272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6B4F3A"/>
                </a:solidFill>
                <a:latin typeface="Microsoft YaHei"/>
              </a:rPr>
              <a:t>关键决策：MySQL 8 + InnoDB + utf8mb4，Flyway 版本化迁移；预约库存采用 available_count + version 条件更新避免超约。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6327648"/>
            <a:ext cx="43891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888888"/>
                </a:solidFill>
                <a:latin typeface="Microsoft YaHei"/>
              </a:rPr>
              <a:t>资料：D-05 数据库设计说明、数据库结构说明 V001-V012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关键模块实现（一）：预约与订单闭环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7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828800" cy="1783080"/>
          </a:xfrm>
          <a:prstGeom prst="roundRect">
            <a:avLst/>
          </a:prstGeom>
          <a:solidFill>
            <a:srgbClr val="E8F4EC"/>
          </a:solidFill>
          <a:ln w="12700">
            <a:solidFill>
              <a:srgbClr val="D8E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99616"/>
            <a:ext cx="15544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D7A43B"/>
                </a:solidFill>
                <a:latin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892807"/>
            <a:ext cx="159105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20" b="1">
                <a:solidFill>
                  <a:srgbClr val="0E4F2B"/>
                </a:solidFill>
                <a:latin typeface="Microsoft YaHei"/>
              </a:rPr>
              <a:t>选择门店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40864"/>
            <a:ext cx="15544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66666"/>
                </a:solidFill>
                <a:latin typeface="Microsoft YaHei"/>
              </a:rPr>
              <a:t>门店 / 桌位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50591" y="2212848"/>
            <a:ext cx="292609" cy="0"/>
          </a:xfrm>
          <a:prstGeom prst="line">
            <a:avLst/>
          </a:prstGeom>
          <a:ln w="22860">
            <a:solidFill>
              <a:srgbClr val="1A7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07208" y="1298448"/>
            <a:ext cx="18288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44368" y="1499616"/>
            <a:ext cx="15544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D7A43B"/>
                </a:solidFill>
                <a:latin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79" y="1892807"/>
            <a:ext cx="159105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20" b="1">
                <a:solidFill>
                  <a:srgbClr val="0E4F2B"/>
                </a:solidFill>
                <a:latin typeface="Microsoft YaHei"/>
              </a:rPr>
              <a:t>锁定时段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44368" y="2340864"/>
            <a:ext cx="15544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66666"/>
                </a:solidFill>
                <a:latin typeface="Microsoft YaHei"/>
              </a:rPr>
              <a:t>容量校验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663440" y="2212848"/>
            <a:ext cx="292608" cy="0"/>
          </a:xfrm>
          <a:prstGeom prst="line">
            <a:avLst/>
          </a:prstGeom>
          <a:ln w="22860">
            <a:solidFill>
              <a:srgbClr val="1A7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020056" y="1298448"/>
            <a:ext cx="1828800" cy="1783080"/>
          </a:xfrm>
          <a:prstGeom prst="roundRect">
            <a:avLst/>
          </a:prstGeom>
          <a:solidFill>
            <a:srgbClr val="E8F4EC"/>
          </a:solidFill>
          <a:ln w="12700">
            <a:solidFill>
              <a:srgbClr val="D8E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57216" y="1499616"/>
            <a:ext cx="15544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D7A43B"/>
                </a:solidFill>
                <a:latin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38928" y="1892807"/>
            <a:ext cx="159105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20" b="1">
                <a:solidFill>
                  <a:srgbClr val="0E4F2B"/>
                </a:solidFill>
                <a:latin typeface="Microsoft YaHei"/>
              </a:rPr>
              <a:t>提交订单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7216" y="2340864"/>
            <a:ext cx="15544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66666"/>
                </a:solidFill>
                <a:latin typeface="Microsoft YaHei"/>
              </a:rPr>
              <a:t>菜品快照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76288" y="2212848"/>
            <a:ext cx="292608" cy="0"/>
          </a:xfrm>
          <a:prstGeom prst="line">
            <a:avLst/>
          </a:prstGeom>
          <a:ln w="22860">
            <a:solidFill>
              <a:srgbClr val="1A7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232904" y="1298448"/>
            <a:ext cx="182880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70064" y="1499616"/>
            <a:ext cx="15544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D7A43B"/>
                </a:solidFill>
                <a:latin typeface="Microsoft YaHe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51776" y="1892807"/>
            <a:ext cx="159105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20" b="1">
                <a:solidFill>
                  <a:srgbClr val="0E4F2B"/>
                </a:solidFill>
                <a:latin typeface="Microsoft YaHei"/>
              </a:rPr>
              <a:t>支付记录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0064" y="2340864"/>
            <a:ext cx="15544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66666"/>
                </a:solidFill>
                <a:latin typeface="Microsoft YaHei"/>
              </a:rPr>
              <a:t>幂等控制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089136" y="2212848"/>
            <a:ext cx="292608" cy="0"/>
          </a:xfrm>
          <a:prstGeom prst="line">
            <a:avLst/>
          </a:prstGeom>
          <a:ln w="22860">
            <a:solidFill>
              <a:srgbClr val="1A7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445752" y="1298448"/>
            <a:ext cx="1828800" cy="1783080"/>
          </a:xfrm>
          <a:prstGeom prst="roundRect">
            <a:avLst/>
          </a:prstGeom>
          <a:solidFill>
            <a:srgbClr val="E8F4EC"/>
          </a:solidFill>
          <a:ln w="12700">
            <a:solidFill>
              <a:srgbClr val="D8E9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82912" y="1499616"/>
            <a:ext cx="155448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D7A43B"/>
                </a:solidFill>
                <a:latin typeface="Microsoft YaHe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64624" y="1892807"/>
            <a:ext cx="159105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20" b="1">
                <a:solidFill>
                  <a:srgbClr val="0E4F2B"/>
                </a:solidFill>
                <a:latin typeface="Microsoft YaHei"/>
              </a:rPr>
              <a:t>到店履约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82912" y="2340864"/>
            <a:ext cx="1554480" cy="320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66666"/>
                </a:solidFill>
                <a:latin typeface="Microsoft YaHei"/>
              </a:rPr>
              <a:t>签到 / 完成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8" y="3767328"/>
            <a:ext cx="3063240" cy="1335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14400" y="3950208"/>
            <a:ext cx="384048" cy="384048"/>
          </a:xfrm>
          <a:prstGeom prst="ellipse">
            <a:avLst/>
          </a:prstGeom>
          <a:solidFill>
            <a:srgbClr val="C9544A"/>
          </a:solidFill>
          <a:ln w="6350">
            <a:solidFill>
              <a:srgbClr val="C95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3995928"/>
            <a:ext cx="384048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980" b="1">
                <a:solidFill>
                  <a:srgbClr val="FFFFFF"/>
                </a:solidFill>
                <a:latin typeface="Microsoft YaHei"/>
              </a:rPr>
              <a:t>难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08176" y="3886200"/>
            <a:ext cx="21488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0E4F2B"/>
                </a:solidFill>
                <a:latin typeface="Microsoft YaHei"/>
              </a:rPr>
              <a:t>难点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7" y="4434840"/>
            <a:ext cx="2651760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90" b="0">
                <a:solidFill>
                  <a:srgbClr val="2B2B2B"/>
                </a:solidFill>
                <a:latin typeface="Microsoft YaHei"/>
              </a:rPr>
              <a:t>预约库存、订单状态和支付状态必须一致，避免超约与重复支付。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79392" y="3767328"/>
            <a:ext cx="3063240" cy="1335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443983" y="3950208"/>
            <a:ext cx="384048" cy="384048"/>
          </a:xfrm>
          <a:prstGeom prst="ellipse">
            <a:avLst/>
          </a:prstGeom>
          <a:solidFill>
            <a:srgbClr val="1A7A3D"/>
          </a:solidFill>
          <a:ln w="6350">
            <a:solidFill>
              <a:srgbClr val="1A7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43983" y="3995928"/>
            <a:ext cx="384048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980" b="1">
                <a:solidFill>
                  <a:srgbClr val="FFFFFF"/>
                </a:solidFill>
                <a:latin typeface="Microsoft YaHei"/>
              </a:rPr>
              <a:t>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937759" y="3886200"/>
            <a:ext cx="21488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0E4F2B"/>
                </a:solidFill>
                <a:latin typeface="Microsoft YaHei"/>
              </a:rPr>
              <a:t>解法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07992" y="4434840"/>
            <a:ext cx="2651760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90" b="0">
                <a:solidFill>
                  <a:srgbClr val="2B2B2B"/>
                </a:solidFill>
                <a:latin typeface="Microsoft YaHei"/>
              </a:rPr>
              <a:t>统一状态校验；数据库条件更新；支付记录使用幂等键。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808975" y="3767328"/>
            <a:ext cx="3063240" cy="13350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973567" y="3950208"/>
            <a:ext cx="384048" cy="384048"/>
          </a:xfrm>
          <a:prstGeom prst="ellipse">
            <a:avLst/>
          </a:prstGeom>
          <a:solidFill>
            <a:srgbClr val="2A6F97"/>
          </a:solidFill>
          <a:ln w="6350"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973567" y="3995928"/>
            <a:ext cx="384048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980" b="1">
                <a:solidFill>
                  <a:srgbClr val="FFFFFF"/>
                </a:solidFill>
                <a:latin typeface="Microsoft YaHei"/>
              </a:rPr>
              <a:t>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67344" y="3886200"/>
            <a:ext cx="214884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550" b="1">
                <a:solidFill>
                  <a:srgbClr val="0E4F2B"/>
                </a:solidFill>
                <a:latin typeface="Microsoft YaHei"/>
              </a:rPr>
              <a:t>效果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37575" y="4434840"/>
            <a:ext cx="2651760" cy="42062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90" b="0">
                <a:solidFill>
                  <a:srgbClr val="2B2B2B"/>
                </a:solidFill>
                <a:latin typeface="Microsoft YaHei"/>
              </a:rPr>
              <a:t>顾客、店员、店长数据流转，答辩可跑通端到端主链路。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0" y="6327648"/>
            <a:ext cx="43891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888888"/>
                </a:solidFill>
                <a:latin typeface="Microsoft YaHei"/>
              </a:rPr>
              <a:t>资料：详细设计、Reservation/Order/Payment 模块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关键模块实现（二）：权限、猫咪与运营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8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10241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6B4F3A"/>
                </a:solidFill>
                <a:latin typeface="Microsoft YaHei"/>
              </a:rPr>
              <a:t>围绕多角色系统，重点解决“谁能看、谁能改、如何运营”的问题。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508760"/>
            <a:ext cx="29718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DF"/>
            </a:solidFill>
          </a:ln>
          <a:effectLst>
            <a:outerShdw blurRad="40000" dist="18000" dir="5400000" algn="ctr" rotWithShape="0">
              <a:srgbClr val="D0D0D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737360"/>
            <a:ext cx="2560320" cy="34747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0E4F2B"/>
                </a:solidFill>
                <a:latin typeface="Microsoft YaHei"/>
              </a:rPr>
              <a:t>统一身份与权限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18488" y="2240280"/>
            <a:ext cx="1280160" cy="137160"/>
          </a:xfrm>
          <a:prstGeom prst="roundRect">
            <a:avLst/>
          </a:prstGeom>
          <a:solidFill>
            <a:srgbClr val="1A7A3D"/>
          </a:solidFill>
          <a:ln w="12700">
            <a:solidFill>
              <a:srgbClr val="1A7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24712" y="2651760"/>
            <a:ext cx="2286000" cy="1645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20">
                <a:solidFill>
                  <a:srgbClr val="2B2B2B"/>
                </a:solidFill>
                <a:latin typeface="Microsoft YaHei"/>
              </a:rPr>
              <a:t>• JWT 无状态认证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2B2B2B"/>
                </a:solidFill>
                <a:latin typeface="Microsoft YaHei"/>
              </a:rPr>
              <a:t>• 前端路由 meta.roles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2B2B2B"/>
                </a:solidFill>
                <a:latin typeface="Microsoft YaHei"/>
              </a:rPr>
              <a:t>• 后端角色权限校验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2B2B2B"/>
                </a:solidFill>
                <a:latin typeface="Microsoft YaHei"/>
              </a:rPr>
              <a:t>• 避免越权访问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508760"/>
            <a:ext cx="29718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DF"/>
            </a:solidFill>
          </a:ln>
          <a:effectLst>
            <a:outerShdw blurRad="40000" dist="18000" dir="5400000" algn="ctr" rotWithShape="0">
              <a:srgbClr val="D0D0D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07407" y="1737360"/>
            <a:ext cx="2560320" cy="34747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0E4F2B"/>
                </a:solidFill>
                <a:latin typeface="Microsoft YaHei"/>
              </a:rPr>
              <a:t>猫咪管家能力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47488" y="2240280"/>
            <a:ext cx="1280160" cy="137160"/>
          </a:xfrm>
          <a:prstGeom prst="roundRect">
            <a:avLst/>
          </a:prstGeom>
          <a:solidFill>
            <a:srgbClr val="D7A43B"/>
          </a:solidFill>
          <a:ln w="12700">
            <a:solidFill>
              <a:srgbClr val="D7A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53712" y="2651760"/>
            <a:ext cx="2286000" cy="1645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20">
                <a:solidFill>
                  <a:srgbClr val="2B2B2B"/>
                </a:solidFill>
                <a:latin typeface="Microsoft YaHei"/>
              </a:rPr>
              <a:t>• 猫咪档案维护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2B2B2B"/>
                </a:solidFill>
                <a:latin typeface="Microsoft YaHei"/>
              </a:rPr>
              <a:t>• 健康记录与体重趋势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2B2B2B"/>
                </a:solidFill>
                <a:latin typeface="Microsoft YaHei"/>
              </a:rPr>
              <a:t>• 照片上传与状态展示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2B2B2B"/>
                </a:solidFill>
                <a:latin typeface="Microsoft YaHei"/>
              </a:rPr>
              <a:t>• 形成猫咖特色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35240" y="1508760"/>
            <a:ext cx="297180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DF"/>
            </a:solidFill>
          </a:ln>
          <a:effectLst>
            <a:outerShdw blurRad="40000" dist="18000" dir="5400000" algn="ctr" rotWithShape="0">
              <a:srgbClr val="D0D0D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36408" y="1737360"/>
            <a:ext cx="2560320" cy="34747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0E4F2B"/>
                </a:solidFill>
                <a:latin typeface="Microsoft YaHei"/>
              </a:rPr>
              <a:t>运营与管理能力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76488" y="2240280"/>
            <a:ext cx="1280160" cy="137160"/>
          </a:xfrm>
          <a:prstGeom prst="roundRect">
            <a:avLst/>
          </a:prstGeom>
          <a:solidFill>
            <a:srgbClr val="2A6F97"/>
          </a:solidFill>
          <a:ln w="12700"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82712" y="2651760"/>
            <a:ext cx="2286000" cy="16459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20">
                <a:solidFill>
                  <a:srgbClr val="2B2B2B"/>
                </a:solidFill>
                <a:latin typeface="Microsoft YaHei"/>
              </a:rPr>
              <a:t>• 门店/员工/菜品管理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2B2B2B"/>
                </a:solidFill>
                <a:latin typeface="Microsoft YaHei"/>
              </a:rPr>
              <a:t>• 活动运营与会员积分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2B2B2B"/>
                </a:solidFill>
                <a:latin typeface="Microsoft YaHei"/>
              </a:rPr>
              <a:t>• 总部数据看板</a:t>
            </a:r>
          </a:p>
          <a:p>
            <a:pPr>
              <a:spcAft>
                <a:spcPts val="500"/>
              </a:spcAft>
            </a:pPr>
            <a:r>
              <a:rPr sz="1220">
                <a:solidFill>
                  <a:srgbClr val="2B2B2B"/>
                </a:solidFill>
                <a:latin typeface="Microsoft YaHei"/>
              </a:rPr>
              <a:t>• 管理员基础治理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6327648"/>
            <a:ext cx="438912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888888"/>
                </a:solidFill>
                <a:latin typeface="Microsoft YaHei"/>
              </a:rPr>
              <a:t>资料：SecurityConfig、Cat/Manager/Dashboard/Admin 模块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关键算法：预约容量扣减与幂等控制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9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143000"/>
            <a:ext cx="4846320" cy="3840480"/>
          </a:xfrm>
          <a:prstGeom prst="roundRect">
            <a:avLst/>
          </a:prstGeom>
          <a:solidFill>
            <a:srgbClr val="FFFBF2"/>
          </a:solidFill>
          <a:ln w="12700">
            <a:solidFill>
              <a:srgbClr val="E5D9C0"/>
            </a:solidFill>
          </a:ln>
          <a:effectLst>
            <a:outerShdw blurRad="40000" dist="18000" dir="5400000" algn="ctr" rotWithShape="0">
              <a:srgbClr val="D0D0D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389888"/>
            <a:ext cx="42976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6B4F3A"/>
                </a:solidFill>
                <a:latin typeface="Microsoft YaHei"/>
              </a:rPr>
              <a:t>预约库存条件更新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874519"/>
            <a:ext cx="41148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E4F2B"/>
                </a:solidFill>
                <a:latin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1874519"/>
            <a:ext cx="356616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20" b="0">
                <a:solidFill>
                  <a:srgbClr val="2B2B2B"/>
                </a:solidFill>
                <a:latin typeface="Microsoft YaHei"/>
              </a:rPr>
              <a:t>读取 reservation_slot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353312" y="2130552"/>
            <a:ext cx="0" cy="155448"/>
          </a:xfrm>
          <a:prstGeom prst="line">
            <a:avLst/>
          </a:prstGeom>
          <a:ln w="20320">
            <a:solidFill>
              <a:srgbClr val="D7A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43000" y="2377439"/>
            <a:ext cx="41148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E4F2B"/>
                </a:solidFill>
                <a:latin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377439"/>
            <a:ext cx="356616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20" b="0">
                <a:solidFill>
                  <a:srgbClr val="2B2B2B"/>
                </a:solidFill>
                <a:latin typeface="Microsoft YaHei"/>
              </a:rPr>
              <a:t>校验 available_count &gt; 0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353312" y="2633472"/>
            <a:ext cx="0" cy="155448"/>
          </a:xfrm>
          <a:prstGeom prst="line">
            <a:avLst/>
          </a:prstGeom>
          <a:ln w="20320">
            <a:solidFill>
              <a:srgbClr val="D7A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143000" y="2880360"/>
            <a:ext cx="41148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E4F2B"/>
                </a:solidFill>
                <a:latin typeface="Microsoft YaHe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880360"/>
            <a:ext cx="356616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20" b="0">
                <a:solidFill>
                  <a:srgbClr val="2B2B2B"/>
                </a:solidFill>
                <a:latin typeface="Microsoft YaHei"/>
              </a:rPr>
              <a:t>WHERE id=? AND available_count&gt;0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353312" y="3136391"/>
            <a:ext cx="0" cy="155449"/>
          </a:xfrm>
          <a:prstGeom prst="line">
            <a:avLst/>
          </a:prstGeom>
          <a:ln w="20320">
            <a:solidFill>
              <a:srgbClr val="D7A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143000" y="3383280"/>
            <a:ext cx="41148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E4F2B"/>
                </a:solidFill>
                <a:latin typeface="Microsoft YaHe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3383280"/>
            <a:ext cx="356616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20" b="0">
                <a:solidFill>
                  <a:srgbClr val="2B2B2B"/>
                </a:solidFill>
                <a:latin typeface="Microsoft YaHei"/>
              </a:rPr>
              <a:t>扣减 available_count，version+1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353312" y="3639312"/>
            <a:ext cx="0" cy="155448"/>
          </a:xfrm>
          <a:prstGeom prst="line">
            <a:avLst/>
          </a:prstGeom>
          <a:ln w="20320">
            <a:solidFill>
              <a:srgbClr val="D7A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143000" y="3886200"/>
            <a:ext cx="41148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0E4F2B"/>
                </a:solidFill>
                <a:latin typeface="Microsoft YaHe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3886200"/>
            <a:ext cx="3566160" cy="2286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20" b="0">
                <a:solidFill>
                  <a:srgbClr val="2B2B2B"/>
                </a:solidFill>
                <a:latin typeface="Microsoft YaHei"/>
              </a:rPr>
              <a:t>失败则提示时段已满 / 重试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80760" y="1143000"/>
            <a:ext cx="4846320" cy="3840480"/>
          </a:xfrm>
          <a:prstGeom prst="roundRect">
            <a:avLst/>
          </a:prstGeom>
          <a:solidFill>
            <a:srgbClr val="E8F4EC"/>
          </a:solidFill>
          <a:ln w="12700">
            <a:solidFill>
              <a:srgbClr val="D0E8D6"/>
            </a:solidFill>
          </a:ln>
          <a:effectLst>
            <a:outerShdw blurRad="40000" dist="18000" dir="5400000" algn="ctr" rotWithShape="0">
              <a:srgbClr val="D0D0D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1389888"/>
            <a:ext cx="42976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E4F2B"/>
                </a:solidFill>
                <a:latin typeface="Microsoft YaHei"/>
              </a:rPr>
              <a:t>为什么这样做？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1920240"/>
            <a:ext cx="3977639" cy="256032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300">
                <a:solidFill>
                  <a:srgbClr val="2B2B2B"/>
                </a:solidFill>
                <a:latin typeface="Microsoft YaHei"/>
              </a:rPr>
              <a:t>• 避免多个顾客同时预约导致超卖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2B2B2B"/>
                </a:solidFill>
                <a:latin typeface="Microsoft YaHei"/>
              </a:rPr>
              <a:t>• 比悲观锁更适合课程演示和中等并发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2B2B2B"/>
                </a:solidFill>
                <a:latin typeface="Microsoft YaHei"/>
              </a:rPr>
              <a:t>• 与订单状态、支付幂等共同保证一致性</a:t>
            </a:r>
          </a:p>
          <a:p>
            <a:pPr>
              <a:spcAft>
                <a:spcPts val="700"/>
              </a:spcAft>
            </a:pPr>
            <a:r>
              <a:rPr sz="1300">
                <a:solidFill>
                  <a:srgbClr val="2B2B2B"/>
                </a:solidFill>
                <a:latin typeface="Microsoft YaHei"/>
              </a:rPr>
              <a:t>• 复杂度主要由一次条件更新承担，逻辑清晰可验证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6327648"/>
            <a:ext cx="438912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888888"/>
                </a:solidFill>
                <a:latin typeface="Microsoft YaHei"/>
              </a:rPr>
              <a:t>资料：数据库设计与详细设计中的 reservation_slot / payment_record 设计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系统演示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10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87552"/>
            <a:ext cx="1024128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6B4F3A"/>
                </a:solidFill>
                <a:latin typeface="Microsoft YaHei"/>
              </a:rPr>
              <a:t>建议答辩现场按角色切换演示，优先展示最能体现完整闭环的主路径。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1508760"/>
            <a:ext cx="1298448" cy="475488"/>
          </a:xfrm>
          <a:prstGeom prst="roundRect">
            <a:avLst/>
          </a:prstGeom>
          <a:solidFill>
            <a:srgbClr val="0E4F2B"/>
          </a:solidFill>
          <a:ln w="12700">
            <a:solidFill>
              <a:srgbClr val="1A7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609344"/>
            <a:ext cx="1115568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顾客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14600" y="1508760"/>
            <a:ext cx="80467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618488"/>
            <a:ext cx="758952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2B2B2B"/>
                </a:solidFill>
                <a:latin typeface="Microsoft YaHei"/>
              </a:rPr>
              <a:t>登录 → 门店 → 预约 → 点单 → 支付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2258568"/>
            <a:ext cx="1298448" cy="475488"/>
          </a:xfrm>
          <a:prstGeom prst="roundRect">
            <a:avLst/>
          </a:prstGeom>
          <a:solidFill>
            <a:srgbClr val="1A7A3D"/>
          </a:solidFill>
          <a:ln w="12700">
            <a:solidFill>
              <a:srgbClr val="1A7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2359151"/>
            <a:ext cx="1115568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店员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14600" y="2258568"/>
            <a:ext cx="80467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0" y="2368296"/>
            <a:ext cx="758952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2B2B2B"/>
                </a:solidFill>
                <a:latin typeface="Microsoft YaHei"/>
              </a:rPr>
              <a:t>签到 → 查看订单 → 履约完成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0120" y="3008376"/>
            <a:ext cx="1298448" cy="475488"/>
          </a:xfrm>
          <a:prstGeom prst="roundRect">
            <a:avLst/>
          </a:prstGeom>
          <a:solidFill>
            <a:srgbClr val="1A7A3D"/>
          </a:solidFill>
          <a:ln w="12700">
            <a:solidFill>
              <a:srgbClr val="1A7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108960"/>
            <a:ext cx="1115568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猫咪管家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14600" y="3008376"/>
            <a:ext cx="80467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43200" y="3118104"/>
            <a:ext cx="758952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2B2B2B"/>
                </a:solidFill>
                <a:latin typeface="Microsoft YaHei"/>
              </a:rPr>
              <a:t>档案 → 健康记录 → 趋势查看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3758183"/>
            <a:ext cx="1298448" cy="475488"/>
          </a:xfrm>
          <a:prstGeom prst="roundRect">
            <a:avLst/>
          </a:prstGeom>
          <a:solidFill>
            <a:srgbClr val="1A7A3D"/>
          </a:solidFill>
          <a:ln w="12700">
            <a:solidFill>
              <a:srgbClr val="1A7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3858768"/>
            <a:ext cx="1115568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店长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14600" y="3758183"/>
            <a:ext cx="80467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43200" y="3867911"/>
            <a:ext cx="758952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2B2B2B"/>
                </a:solidFill>
                <a:latin typeface="Microsoft YaHei"/>
              </a:rPr>
              <a:t>门店 / 桌位 / 菜品 / 员工维护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" y="4507992"/>
            <a:ext cx="1298448" cy="475488"/>
          </a:xfrm>
          <a:prstGeom prst="roundRect">
            <a:avLst/>
          </a:prstGeom>
          <a:solidFill>
            <a:srgbClr val="1A7A3D"/>
          </a:solidFill>
          <a:ln w="12700">
            <a:solidFill>
              <a:srgbClr val="1A7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" y="4608576"/>
            <a:ext cx="1115568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FFFFFF"/>
                </a:solidFill>
                <a:latin typeface="Microsoft YaHei"/>
              </a:rPr>
              <a:t>总部/管理员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14600" y="4507992"/>
            <a:ext cx="8046720" cy="4754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A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0" y="4617720"/>
            <a:ext cx="758952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2B2B2B"/>
                </a:solidFill>
                <a:latin typeface="Microsoft YaHei"/>
              </a:rPr>
              <a:t>看板 → 活动 → 用户与权限治理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" y="5440680"/>
            <a:ext cx="9509760" cy="502920"/>
          </a:xfrm>
          <a:prstGeom prst="roundRect">
            <a:avLst/>
          </a:prstGeom>
          <a:solidFill>
            <a:srgbClr val="FFFBF2"/>
          </a:solidFill>
          <a:ln w="12700">
            <a:solidFill>
              <a:srgbClr val="EE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34440" y="5586984"/>
            <a:ext cx="905256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250" b="1">
                <a:solidFill>
                  <a:srgbClr val="6B4F3A"/>
                </a:solidFill>
                <a:latin typeface="Microsoft YaHei"/>
              </a:rPr>
              <a:t>演示保障：Docker Compose 一键启动 + 健康检查 / Swagger / 演示数据，降低现场环境风险。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6327648"/>
            <a:ext cx="438912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888888"/>
                </a:solidFill>
                <a:latin typeface="Microsoft YaHei"/>
              </a:rPr>
              <a:t>资料：README、项目运行说明、演示账号说明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测试与质量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11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097280"/>
            <a:ext cx="242316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0392" y="1261872"/>
            <a:ext cx="365760" cy="365760"/>
          </a:xfrm>
          <a:prstGeom prst="ellipse">
            <a:avLst/>
          </a:prstGeom>
          <a:solidFill>
            <a:srgbClr val="1A7A3D"/>
          </a:solidFill>
          <a:ln w="6350">
            <a:solidFill>
              <a:srgbClr val="1A7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30759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</a:rPr>
              <a:t>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07592" y="1207008"/>
            <a:ext cx="16002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0E4F2B"/>
                </a:solidFill>
                <a:latin typeface="Microsoft YaHei"/>
              </a:rPr>
              <a:t>后端测试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1773936"/>
            <a:ext cx="1975104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40" b="0">
                <a:solidFill>
                  <a:srgbClr val="2B2B2B"/>
                </a:solidFill>
                <a:latin typeface="Microsoft YaHei"/>
              </a:rPr>
              <a:t>Spring Boot Test 覆盖订单、预约、支付、退款等关键服务。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097280"/>
            <a:ext cx="242316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47872" y="1261872"/>
            <a:ext cx="365760" cy="365760"/>
          </a:xfrm>
          <a:prstGeom prst="ellipse">
            <a:avLst/>
          </a:prstGeom>
          <a:solidFill>
            <a:srgbClr val="2A6F97"/>
          </a:solidFill>
          <a:ln w="6350"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7872" y="130759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</a:rPr>
              <a:t>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05072" y="1207008"/>
            <a:ext cx="16002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0E4F2B"/>
                </a:solidFill>
                <a:latin typeface="Microsoft YaHei"/>
              </a:rPr>
              <a:t>前端质量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1773936"/>
            <a:ext cx="1975104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40" b="0">
                <a:solidFill>
                  <a:srgbClr val="2B2B2B"/>
                </a:solidFill>
                <a:latin typeface="Microsoft YaHei"/>
              </a:rPr>
              <a:t>vue-tsc 类型检查、Vitest 组件测试、Vite 构建。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80760" y="1097280"/>
            <a:ext cx="242316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45352" y="1261872"/>
            <a:ext cx="365760" cy="365760"/>
          </a:xfrm>
          <a:prstGeom prst="ellipse">
            <a:avLst/>
          </a:prstGeom>
          <a:solidFill>
            <a:srgbClr val="D7A43B"/>
          </a:solidFill>
          <a:ln w="6350">
            <a:solidFill>
              <a:srgbClr val="D7A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45352" y="130759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</a:rPr>
              <a:t>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02552" y="1207008"/>
            <a:ext cx="16002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0E4F2B"/>
                </a:solidFill>
                <a:latin typeface="Microsoft YaHei"/>
              </a:rPr>
              <a:t>主链路验证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1773936"/>
            <a:ext cx="1975104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40" b="0">
                <a:solidFill>
                  <a:srgbClr val="2B2B2B"/>
                </a:solidFill>
                <a:latin typeface="Microsoft YaHei"/>
              </a:rPr>
              <a:t>Smoke / E2E 思路覆盖注册、预约、点单、支付、履约。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8240" y="1097280"/>
            <a:ext cx="2423160" cy="15361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942832" y="1261872"/>
            <a:ext cx="365760" cy="365760"/>
          </a:xfrm>
          <a:prstGeom prst="ellipse">
            <a:avLst/>
          </a:prstGeom>
          <a:solidFill>
            <a:srgbClr val="C9544A"/>
          </a:solidFill>
          <a:ln w="6350">
            <a:solidFill>
              <a:srgbClr val="C95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42832" y="130759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</a:rPr>
              <a:t>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00032" y="1207008"/>
            <a:ext cx="160020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0E4F2B"/>
                </a:solidFill>
                <a:latin typeface="Microsoft YaHei"/>
              </a:rPr>
              <a:t>性能意识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88552" y="1773936"/>
            <a:ext cx="1975104" cy="5029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40" b="0">
                <a:solidFill>
                  <a:srgbClr val="2B2B2B"/>
                </a:solidFill>
                <a:latin typeface="Microsoft YaHei"/>
              </a:rPr>
              <a:t>关注 P95、并发预约、健康检查和缺陷闭环。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5840" y="3401568"/>
            <a:ext cx="9692640" cy="1234440"/>
          </a:xfrm>
          <a:prstGeom prst="roundRect">
            <a:avLst/>
          </a:prstGeom>
          <a:solidFill>
            <a:srgbClr val="0E4F2B"/>
          </a:solidFill>
          <a:ln w="12700">
            <a:solidFill>
              <a:srgbClr val="0E4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25880" y="3602736"/>
            <a:ext cx="905256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CI 检查项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874519" y="4087368"/>
            <a:ext cx="160020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11095" y="4137660"/>
            <a:ext cx="1527048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980" b="1">
                <a:solidFill>
                  <a:srgbClr val="0E4F2B"/>
                </a:solidFill>
                <a:latin typeface="Microsoft YaHei"/>
              </a:rPr>
              <a:t>mvn test / package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60520" y="4087368"/>
            <a:ext cx="132588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97096" y="4137660"/>
            <a:ext cx="1252728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980" b="1">
                <a:solidFill>
                  <a:srgbClr val="0E4F2B"/>
                </a:solidFill>
                <a:latin typeface="Microsoft YaHei"/>
              </a:rPr>
              <a:t>npm install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97880" y="4087368"/>
            <a:ext cx="1719072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34456" y="4137660"/>
            <a:ext cx="1645919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980" b="1">
                <a:solidFill>
                  <a:srgbClr val="0E4F2B"/>
                </a:solidFill>
                <a:latin typeface="Microsoft YaHei"/>
              </a:rPr>
              <a:t>npm run typecheck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92440" y="4087368"/>
            <a:ext cx="1417320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29015" y="4137660"/>
            <a:ext cx="1344168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980" b="1">
                <a:solidFill>
                  <a:srgbClr val="0E4F2B"/>
                </a:solidFill>
                <a:latin typeface="Microsoft YaHei"/>
              </a:rPr>
              <a:t>npm run build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6327648"/>
            <a:ext cx="43891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888888"/>
                </a:solidFill>
                <a:latin typeface="Microsoft YaHei"/>
              </a:rPr>
              <a:t>资料：tests/README、frontend/package.json、GitHub Actions workflow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部署与可观测：CI/CD 到云服务器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12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25880"/>
            <a:ext cx="1874519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536192"/>
            <a:ext cx="164592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0E4F2B"/>
                </a:solidFill>
                <a:latin typeface="Microsoft YaHei"/>
              </a:rPr>
              <a:t>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920240"/>
            <a:ext cx="16916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30" b="0">
                <a:solidFill>
                  <a:srgbClr val="666666"/>
                </a:solidFill>
                <a:latin typeface="Microsoft YaHei"/>
              </a:rPr>
              <a:t>PR / main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77439" y="1901952"/>
            <a:ext cx="283465" cy="0"/>
          </a:xfrm>
          <a:prstGeom prst="line">
            <a:avLst/>
          </a:prstGeom>
          <a:ln w="22860">
            <a:solidFill>
              <a:srgbClr val="D7A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743200" y="1325880"/>
            <a:ext cx="1874519" cy="1170432"/>
          </a:xfrm>
          <a:prstGeom prst="roundRect">
            <a:avLst/>
          </a:prstGeom>
          <a:solidFill>
            <a:srgbClr val="E8F4EC"/>
          </a:solidFill>
          <a:ln w="12700">
            <a:solidFill>
              <a:srgbClr val="D7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2928" y="1536192"/>
            <a:ext cx="164592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0E4F2B"/>
                </a:solidFill>
                <a:latin typeface="Microsoft YaHei"/>
              </a:rPr>
              <a:t>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1920240"/>
            <a:ext cx="16916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30" b="0">
                <a:solidFill>
                  <a:srgbClr val="666666"/>
                </a:solidFill>
                <a:latin typeface="Microsoft YaHei"/>
              </a:rPr>
              <a:t>测试与构建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17720" y="1901952"/>
            <a:ext cx="283463" cy="0"/>
          </a:xfrm>
          <a:prstGeom prst="line">
            <a:avLst/>
          </a:prstGeom>
          <a:ln w="22860">
            <a:solidFill>
              <a:srgbClr val="D7A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983480" y="1325880"/>
            <a:ext cx="1874519" cy="1170432"/>
          </a:xfrm>
          <a:prstGeom prst="roundRect">
            <a:avLst/>
          </a:prstGeom>
          <a:solidFill>
            <a:srgbClr val="FFFBF2"/>
          </a:solidFill>
          <a:ln w="12700">
            <a:solidFill>
              <a:srgbClr val="D7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93208" y="1536192"/>
            <a:ext cx="164592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0E4F2B"/>
                </a:solidFill>
                <a:latin typeface="Microsoft YaHei"/>
              </a:rPr>
              <a:t>GHCR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1920240"/>
            <a:ext cx="16916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30" b="0">
                <a:solidFill>
                  <a:srgbClr val="666666"/>
                </a:solidFill>
                <a:latin typeface="Microsoft YaHei"/>
              </a:rPr>
              <a:t>镜像仓库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0" y="1901952"/>
            <a:ext cx="283464" cy="0"/>
          </a:xfrm>
          <a:prstGeom prst="line">
            <a:avLst/>
          </a:prstGeom>
          <a:ln w="22860">
            <a:solidFill>
              <a:srgbClr val="D7A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223760" y="1325880"/>
            <a:ext cx="1874519" cy="1170432"/>
          </a:xfrm>
          <a:prstGeom prst="roundRect">
            <a:avLst/>
          </a:prstGeom>
          <a:solidFill>
            <a:srgbClr val="D7EEDF"/>
          </a:solidFill>
          <a:ln w="12700">
            <a:solidFill>
              <a:srgbClr val="D7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33488" y="1536192"/>
            <a:ext cx="164592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0E4F2B"/>
                </a:solidFill>
                <a:latin typeface="Microsoft YaHei"/>
              </a:rPr>
              <a:t>阿里云 ECS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1920240"/>
            <a:ext cx="16916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30" b="0">
                <a:solidFill>
                  <a:srgbClr val="666666"/>
                </a:solidFill>
                <a:latin typeface="Microsoft YaHei"/>
              </a:rPr>
              <a:t>SSH 部署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098280" y="1901952"/>
            <a:ext cx="283464" cy="0"/>
          </a:xfrm>
          <a:prstGeom prst="line">
            <a:avLst/>
          </a:prstGeom>
          <a:ln w="22860">
            <a:solidFill>
              <a:srgbClr val="D7A4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464040" y="1325880"/>
            <a:ext cx="1874519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6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73768" y="1536192"/>
            <a:ext cx="1645920" cy="237744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0E4F2B"/>
                </a:solidFill>
                <a:latin typeface="Microsoft YaHei"/>
              </a:rPr>
              <a:t>Docker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55480" y="1920240"/>
            <a:ext cx="1691640" cy="2194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30" b="0">
                <a:solidFill>
                  <a:srgbClr val="666666"/>
                </a:solidFill>
                <a:latin typeface="Microsoft YaHei"/>
              </a:rPr>
              <a:t>Compose 编排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2953512"/>
            <a:ext cx="1014984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6B4F3A"/>
                </a:solidFill>
                <a:latin typeface="Microsoft YaHei"/>
              </a:rPr>
              <a:t>我们把课程项目做成可交付系统：代码合并后自动完成构建、镜像发布与云端容器更新。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" y="3584448"/>
            <a:ext cx="315468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7552" y="3767328"/>
            <a:ext cx="384048" cy="384048"/>
          </a:xfrm>
          <a:prstGeom prst="ellipse">
            <a:avLst/>
          </a:prstGeom>
          <a:solidFill>
            <a:srgbClr val="1A7A3D"/>
          </a:solidFill>
          <a:ln w="6350">
            <a:solidFill>
              <a:srgbClr val="1A7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7552" y="3813048"/>
            <a:ext cx="384048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</a:rPr>
              <a:t>容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1328" y="3703320"/>
            <a:ext cx="2240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E4F2B"/>
                </a:solidFill>
                <a:latin typeface="Microsoft YaHei"/>
              </a:rPr>
              <a:t>生产 Compose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251960"/>
            <a:ext cx="269748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60" b="0">
                <a:solidFill>
                  <a:srgbClr val="2B2B2B"/>
                </a:solidFill>
                <a:latin typeface="Microsoft YaHei"/>
              </a:rPr>
              <a:t>backend / frontend 读取镜像变量；Redis、健康检查、restart 策略齐全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43400" y="3584448"/>
            <a:ext cx="315468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07992" y="3767328"/>
            <a:ext cx="384048" cy="384048"/>
          </a:xfrm>
          <a:prstGeom prst="ellipse">
            <a:avLst/>
          </a:prstGeom>
          <a:solidFill>
            <a:srgbClr val="C9544A"/>
          </a:solidFill>
          <a:ln w="6350">
            <a:solidFill>
              <a:srgbClr val="C95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07992" y="3813048"/>
            <a:ext cx="384048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</a:rPr>
              <a:t>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01768" y="3703320"/>
            <a:ext cx="2240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E4F2B"/>
                </a:solidFill>
                <a:latin typeface="Microsoft YaHei"/>
              </a:rPr>
              <a:t>安全配置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4251960"/>
            <a:ext cx="269748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60" b="0">
                <a:solidFill>
                  <a:srgbClr val="2B2B2B"/>
                </a:solidFill>
                <a:latin typeface="Microsoft YaHei"/>
              </a:rPr>
              <a:t>服务器 .env 保留；数据库、JWT、API Key 等敏感信息不进入仓库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63840" y="3584448"/>
            <a:ext cx="3154680" cy="12618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A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028431" y="3767328"/>
            <a:ext cx="384048" cy="384048"/>
          </a:xfrm>
          <a:prstGeom prst="ellipse">
            <a:avLst/>
          </a:prstGeom>
          <a:solidFill>
            <a:srgbClr val="2A6F97"/>
          </a:solidFill>
          <a:ln w="6350">
            <a:solidFill>
              <a:srgbClr val="2A6F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28431" y="3813048"/>
            <a:ext cx="384048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</a:rPr>
              <a:t>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22208" y="3703320"/>
            <a:ext cx="2240280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0E4F2B"/>
                </a:solidFill>
                <a:latin typeface="Microsoft YaHei"/>
              </a:rPr>
              <a:t>可观测入口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92440" y="4251960"/>
            <a:ext cx="2697480" cy="4114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060" b="0">
                <a:solidFill>
                  <a:srgbClr val="2B2B2B"/>
                </a:solidFill>
                <a:latin typeface="Microsoft YaHei"/>
              </a:rPr>
              <a:t>/actuator/health、/api/health、Swagger UI 与容器 healthcheck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32320" y="6327648"/>
            <a:ext cx="43891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888888"/>
                </a:solidFill>
                <a:latin typeface="Microsoft YaHei"/>
              </a:rPr>
              <a:t>资料：README、CI-CD 流水线与分支协作规范、docker-compose.prod.yml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项目管理与协作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13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05840"/>
            <a:ext cx="1024128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6B4F3A"/>
                </a:solidFill>
                <a:latin typeface="Microsoft YaHei"/>
              </a:rPr>
              <a:t>采用 PR 驱动协作，主分支稳定优先，把“可运行、可审核、可部署”作为团队共同目标。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1600200"/>
            <a:ext cx="2743200" cy="1005840"/>
          </a:xfrm>
          <a:prstGeom prst="roundRect">
            <a:avLst/>
          </a:prstGeom>
          <a:solidFill>
            <a:srgbClr val="E8F4EC"/>
          </a:solidFill>
          <a:ln w="12700">
            <a:solidFill>
              <a:srgbClr val="DAE8DF"/>
            </a:solidFill>
          </a:ln>
          <a:effectLst>
            <a:outerShdw blurRad="40000" dist="18000" dir="5400000" algn="ctr" rotWithShape="0">
              <a:srgbClr val="D0D0D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1755648"/>
            <a:ext cx="2414016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0E4F2B"/>
                </a:solidFill>
                <a:latin typeface="Microsoft YaHei"/>
              </a:rPr>
              <a:t>功能分支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" y="2130552"/>
            <a:ext cx="2450592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66666"/>
                </a:solidFill>
                <a:latin typeface="Microsoft YaHei"/>
              </a:rPr>
              <a:t>feature / fix / docs / ci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600200"/>
            <a:ext cx="27432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DF"/>
            </a:solidFill>
          </a:ln>
          <a:effectLst>
            <a:outerShdw blurRad="40000" dist="18000" dir="5400000" algn="ctr" rotWithShape="0">
              <a:srgbClr val="D0D0D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1" y="1755648"/>
            <a:ext cx="2414016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0E4F2B"/>
                </a:solidFill>
                <a:latin typeface="Microsoft YaHei"/>
              </a:rPr>
              <a:t>自测提交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81144" y="2130552"/>
            <a:ext cx="2450592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66666"/>
                </a:solidFill>
                <a:latin typeface="Microsoft YaHei"/>
              </a:rPr>
              <a:t>本地运行与说明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600200"/>
            <a:ext cx="2743200" cy="1005840"/>
          </a:xfrm>
          <a:prstGeom prst="roundRect">
            <a:avLst/>
          </a:prstGeom>
          <a:solidFill>
            <a:srgbClr val="E8F4EC"/>
          </a:solidFill>
          <a:ln w="12700">
            <a:solidFill>
              <a:srgbClr val="DAE8DF"/>
            </a:solidFill>
          </a:ln>
          <a:effectLst>
            <a:outerShdw blurRad="40000" dist="18000" dir="5400000" algn="ctr" rotWithShape="0">
              <a:srgbClr val="D0D0D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19871" y="1755648"/>
            <a:ext cx="2414016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0E4F2B"/>
                </a:solidFill>
                <a:latin typeface="Microsoft YaHei"/>
              </a:rPr>
              <a:t>Pull Request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01583" y="2130552"/>
            <a:ext cx="2450592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66666"/>
                </a:solidFill>
                <a:latin typeface="Microsoft YaHei"/>
              </a:rPr>
              <a:t>描述影响范围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200400"/>
            <a:ext cx="27432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DF"/>
            </a:solidFill>
          </a:ln>
          <a:effectLst>
            <a:outerShdw blurRad="40000" dist="18000" dir="5400000" algn="ctr" rotWithShape="0">
              <a:srgbClr val="D0D0D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3355848"/>
            <a:ext cx="2414016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0E4F2B"/>
                </a:solidFill>
                <a:latin typeface="Microsoft YaHei"/>
              </a:rPr>
              <a:t>CI 检查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" y="3730752"/>
            <a:ext cx="2450592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66666"/>
                </a:solidFill>
                <a:latin typeface="Microsoft YaHei"/>
              </a:rPr>
              <a:t>构建 / 类型 / 测试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3200400"/>
            <a:ext cx="2743200" cy="1005840"/>
          </a:xfrm>
          <a:prstGeom prst="roundRect">
            <a:avLst/>
          </a:prstGeom>
          <a:solidFill>
            <a:srgbClr val="E8F4EC"/>
          </a:solidFill>
          <a:ln w="12700">
            <a:solidFill>
              <a:srgbClr val="DAE8DF"/>
            </a:solidFill>
          </a:ln>
          <a:effectLst>
            <a:outerShdw blurRad="40000" dist="18000" dir="5400000" algn="ctr" rotWithShape="0">
              <a:srgbClr val="D0D0D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99431" y="3355848"/>
            <a:ext cx="2414016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0E4F2B"/>
                </a:solidFill>
                <a:latin typeface="Microsoft YaHei"/>
              </a:rPr>
              <a:t>Review 合并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144" y="3730752"/>
            <a:ext cx="2450592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66666"/>
                </a:solidFill>
                <a:latin typeface="Microsoft YaHei"/>
              </a:rPr>
              <a:t>负责人审核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955279" y="3200400"/>
            <a:ext cx="274320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DF"/>
            </a:solidFill>
          </a:ln>
          <a:effectLst>
            <a:outerShdw blurRad="40000" dist="18000" dir="5400000" algn="ctr" rotWithShape="0">
              <a:srgbClr val="D0D0D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19871" y="3355848"/>
            <a:ext cx="2414016" cy="2377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0E4F2B"/>
                </a:solidFill>
                <a:latin typeface="Microsoft YaHei"/>
              </a:rPr>
              <a:t>自动部署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01583" y="3730752"/>
            <a:ext cx="2450592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0">
                <a:solidFill>
                  <a:srgbClr val="666666"/>
                </a:solidFill>
                <a:latin typeface="Microsoft YaHei"/>
              </a:rPr>
              <a:t>main 触发 CD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6327648"/>
            <a:ext cx="438912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888888"/>
                </a:solidFill>
                <a:latin typeface="Microsoft YaHei"/>
              </a:rPr>
              <a:t>资料：T-02 团队组建申报表、CI-CD 流水线与分支协作规范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AI 工具使用申报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14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143000"/>
            <a:ext cx="29260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AE1"/>
            </a:solidFill>
          </a:ln>
          <a:effectLst>
            <a:outerShdw blurRad="40000" dist="18000" dir="5400000" algn="ctr" rotWithShape="0">
              <a:srgbClr val="D0D0D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87552" y="1307592"/>
            <a:ext cx="384048" cy="384048"/>
          </a:xfrm>
          <a:prstGeom prst="ellipse">
            <a:avLst/>
          </a:prstGeom>
          <a:solidFill>
            <a:srgbClr val="1A7A3D"/>
          </a:solidFill>
          <a:ln w="6350">
            <a:solidFill>
              <a:srgbClr val="1A7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316736"/>
            <a:ext cx="384048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271016"/>
            <a:ext cx="21031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E4F2B"/>
                </a:solidFill>
                <a:latin typeface="Microsoft YaHei"/>
              </a:rPr>
              <a:t>使用范围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" y="1737360"/>
            <a:ext cx="2514600" cy="11155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2B2B2B"/>
                </a:solidFill>
                <a:latin typeface="Microsoft YaHei"/>
              </a:rPr>
              <a:t>辅助资料查阅、报错解释、文档润色、测试用例思路和 PPT 表达优化。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143000"/>
            <a:ext cx="29260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AE1"/>
            </a:solidFill>
          </a:ln>
          <a:effectLst>
            <a:outerShdw blurRad="40000" dist="18000" dir="5400000" algn="ctr" rotWithShape="0">
              <a:srgbClr val="D0D0D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07992" y="1307592"/>
            <a:ext cx="384048" cy="384048"/>
          </a:xfrm>
          <a:prstGeom prst="ellipse">
            <a:avLst/>
          </a:prstGeom>
          <a:solidFill>
            <a:srgbClr val="D7A43B"/>
          </a:solidFill>
          <a:ln w="6350">
            <a:solidFill>
              <a:srgbClr val="D7A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1316736"/>
            <a:ext cx="384048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1768" y="1271016"/>
            <a:ext cx="21031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E4F2B"/>
                </a:solidFill>
                <a:latin typeface="Microsoft YaHei"/>
              </a:rPr>
              <a:t>人工把关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6" y="1737360"/>
            <a:ext cx="2514600" cy="11155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2B2B2B"/>
                </a:solidFill>
                <a:latin typeface="Microsoft YaHei"/>
              </a:rPr>
              <a:t>需求决策、核心代码、数据库设计、测试结果和最终文档均由成员理解、审核、确认。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63840" y="1143000"/>
            <a:ext cx="292608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AE1"/>
            </a:solidFill>
          </a:ln>
          <a:effectLst>
            <a:outerShdw blurRad="40000" dist="18000" dir="5400000" algn="ctr" rotWithShape="0">
              <a:srgbClr val="D0D0D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28431" y="1307592"/>
            <a:ext cx="384048" cy="384048"/>
          </a:xfrm>
          <a:prstGeom prst="ellipse">
            <a:avLst/>
          </a:prstGeom>
          <a:solidFill>
            <a:srgbClr val="C9544A"/>
          </a:solidFill>
          <a:ln w="6350">
            <a:solidFill>
              <a:srgbClr val="C954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28431" y="1316736"/>
            <a:ext cx="384048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22208" y="1271016"/>
            <a:ext cx="2103120" cy="29260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E4F2B"/>
                </a:solidFill>
                <a:latin typeface="Microsoft YaHei"/>
              </a:rPr>
              <a:t>诚信边界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83296" y="1737360"/>
            <a:ext cx="2514600" cy="11155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2B2B2B"/>
                </a:solidFill>
                <a:latin typeface="Microsoft YaHei"/>
              </a:rPr>
              <a:t>不编造运行结果、测试结果、引用或个人贡献；不提交未理解的 AI 生成代码。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" y="3749039"/>
            <a:ext cx="9326880" cy="822960"/>
          </a:xfrm>
          <a:prstGeom prst="roundRect">
            <a:avLst/>
          </a:prstGeom>
          <a:solidFill>
            <a:srgbClr val="0E4F2B"/>
          </a:solidFill>
          <a:ln w="12700">
            <a:solidFill>
              <a:srgbClr val="0E4F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3995928"/>
            <a:ext cx="8778240" cy="256032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AI 是效率工具，不替代团队的软件工程过程与结果验证。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6327648"/>
            <a:ext cx="438912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888888"/>
                </a:solidFill>
                <a:latin typeface="Microsoft YaHei"/>
              </a:rPr>
              <a:t>资料：T-02 团队 AI 使用规范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遇到的最大挑战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15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143000"/>
            <a:ext cx="3017520" cy="3520440"/>
          </a:xfrm>
          <a:prstGeom prst="roundRect">
            <a:avLst/>
          </a:prstGeom>
          <a:solidFill>
            <a:srgbClr val="FFFBF2"/>
          </a:solidFill>
          <a:ln w="12700">
            <a:solidFill>
              <a:srgbClr val="E8D8BD"/>
            </a:solidFill>
          </a:ln>
          <a:effectLst>
            <a:outerShdw blurRad="40000" dist="18000" dir="5400000" algn="ctr" rotWithShape="0">
              <a:srgbClr val="D0D0D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417320"/>
            <a:ext cx="25603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6B4F3A"/>
                </a:solidFill>
                <a:latin typeface="Microsoft YaHei"/>
              </a:rPr>
              <a:t>挑战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965960"/>
            <a:ext cx="242316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20">
                <a:solidFill>
                  <a:srgbClr val="2B2B2B"/>
                </a:solidFill>
                <a:latin typeface="Microsoft YaHei"/>
              </a:rPr>
              <a:t>• 多角色功能并行开发</a:t>
            </a:r>
          </a:p>
          <a:p>
            <a:pPr>
              <a:spcAft>
                <a:spcPts val="700"/>
              </a:spcAft>
            </a:pPr>
            <a:r>
              <a:rPr sz="1220">
                <a:solidFill>
                  <a:srgbClr val="2B2B2B"/>
                </a:solidFill>
                <a:latin typeface="Microsoft YaHei"/>
              </a:rPr>
              <a:t>• 接口字段与权限边界容易不一致</a:t>
            </a:r>
          </a:p>
          <a:p>
            <a:pPr>
              <a:spcAft>
                <a:spcPts val="700"/>
              </a:spcAft>
            </a:pPr>
            <a:r>
              <a:rPr sz="1220">
                <a:solidFill>
                  <a:srgbClr val="2B2B2B"/>
                </a:solidFill>
                <a:latin typeface="Microsoft YaHei"/>
              </a:rPr>
              <a:t>• 部署涉及容器、环境变量和服务器配置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143000"/>
            <a:ext cx="3017520" cy="3520440"/>
          </a:xfrm>
          <a:prstGeom prst="roundRect">
            <a:avLst/>
          </a:prstGeom>
          <a:solidFill>
            <a:srgbClr val="E8F4EC"/>
          </a:solidFill>
          <a:ln w="12700">
            <a:solidFill>
              <a:srgbClr val="D5E8D9"/>
            </a:solidFill>
          </a:ln>
          <a:effectLst>
            <a:outerShdw blurRad="40000" dist="18000" dir="5400000" algn="ctr" rotWithShape="0">
              <a:srgbClr val="D0D0D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1417320"/>
            <a:ext cx="25603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0E4F2B"/>
                </a:solidFill>
                <a:latin typeface="Microsoft YaHei"/>
              </a:rPr>
              <a:t>解决过程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1965960"/>
            <a:ext cx="242316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20">
                <a:solidFill>
                  <a:srgbClr val="2B2B2B"/>
                </a:solidFill>
                <a:latin typeface="Microsoft YaHei"/>
              </a:rPr>
              <a:t>• 组长维护公共架构和接口边界</a:t>
            </a:r>
          </a:p>
          <a:p>
            <a:pPr>
              <a:spcAft>
                <a:spcPts val="700"/>
              </a:spcAft>
            </a:pPr>
            <a:r>
              <a:rPr sz="1220">
                <a:solidFill>
                  <a:srgbClr val="2B2B2B"/>
                </a:solidFill>
                <a:latin typeface="Microsoft YaHei"/>
              </a:rPr>
              <a:t>• PR + CI + Review 控制合并质量</a:t>
            </a:r>
          </a:p>
          <a:p>
            <a:pPr>
              <a:spcAft>
                <a:spcPts val="700"/>
              </a:spcAft>
            </a:pPr>
            <a:r>
              <a:rPr sz="1220">
                <a:solidFill>
                  <a:srgbClr val="2B2B2B"/>
                </a:solidFill>
                <a:latin typeface="Microsoft YaHei"/>
              </a:rPr>
              <a:t>• Docker Compose 与文档固化部署步骤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1143000"/>
            <a:ext cx="3017520" cy="3520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DF"/>
            </a:solidFill>
          </a:ln>
          <a:effectLst>
            <a:outerShdw blurRad="40000" dist="18000" dir="5400000" algn="ctr" rotWithShape="0">
              <a:srgbClr val="D0D0D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417320"/>
            <a:ext cx="256032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900" b="1">
                <a:solidFill>
                  <a:srgbClr val="2A6F97"/>
                </a:solidFill>
                <a:latin typeface="Microsoft YaHei"/>
              </a:rPr>
              <a:t>收获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1965960"/>
            <a:ext cx="2423160" cy="169164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220">
                <a:solidFill>
                  <a:srgbClr val="2B2B2B"/>
                </a:solidFill>
                <a:latin typeface="Microsoft YaHei"/>
              </a:rPr>
              <a:t>• 从“能写功能”走向“能交付系统”</a:t>
            </a:r>
          </a:p>
          <a:p>
            <a:pPr>
              <a:spcAft>
                <a:spcPts val="700"/>
              </a:spcAft>
            </a:pPr>
            <a:r>
              <a:rPr sz="1220">
                <a:solidFill>
                  <a:srgbClr val="2B2B2B"/>
                </a:solidFill>
                <a:latin typeface="Microsoft YaHei"/>
              </a:rPr>
              <a:t>• 理解安全、测试、部署与协作的工程价值</a:t>
            </a:r>
          </a:p>
          <a:p>
            <a:pPr>
              <a:spcAft>
                <a:spcPts val="700"/>
              </a:spcAft>
            </a:pPr>
            <a:r>
              <a:rPr sz="1220">
                <a:solidFill>
                  <a:srgbClr val="2B2B2B"/>
                </a:solidFill>
                <a:latin typeface="Microsoft YaHei"/>
              </a:rPr>
              <a:t>• 形成可演示、可维护、可复现成果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6327648"/>
            <a:ext cx="438912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888888"/>
                </a:solidFill>
                <a:latin typeface="Microsoft YaHei"/>
              </a:rPr>
              <a:t>资料：风险应对、团队公约、部署运维文档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16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241280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E4F2B"/>
                </a:solidFill>
                <a:latin typeface="Microsoft YaHei"/>
              </a:rPr>
              <a:t>主要成果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353312"/>
            <a:ext cx="214884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1572768"/>
            <a:ext cx="181965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1A7A3D"/>
                </a:solidFill>
                <a:latin typeface="Microsoft YaHei"/>
              </a:rPr>
              <a:t>完整业务闭环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1993392"/>
            <a:ext cx="1856231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19" b="0">
                <a:solidFill>
                  <a:srgbClr val="2B2B2B"/>
                </a:solidFill>
                <a:latin typeface="Microsoft YaHei"/>
              </a:rPr>
              <a:t>预约、点单、支付、履约、运营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1353312"/>
            <a:ext cx="214884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30752" y="1572768"/>
            <a:ext cx="181965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2A6F97"/>
                </a:solidFill>
                <a:latin typeface="Microsoft YaHei"/>
              </a:rPr>
              <a:t>工程化实现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12463" y="1993392"/>
            <a:ext cx="1856231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19" b="0">
                <a:solidFill>
                  <a:srgbClr val="2B2B2B"/>
                </a:solidFill>
                <a:latin typeface="Microsoft YaHei"/>
              </a:rPr>
              <a:t>分层架构、权限、迁移、测试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353312"/>
            <a:ext cx="214884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572768"/>
            <a:ext cx="181965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D7A43B"/>
                </a:solidFill>
                <a:latin typeface="Microsoft YaHei"/>
              </a:rPr>
              <a:t>云端交付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55664" y="1993392"/>
            <a:ext cx="1856231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19" b="0">
                <a:solidFill>
                  <a:srgbClr val="2B2B2B"/>
                </a:solidFill>
                <a:latin typeface="Microsoft YaHei"/>
              </a:rPr>
              <a:t>Docker、GHCR、CI/CD、ECS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52560" y="1353312"/>
            <a:ext cx="2148840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17152" y="1572768"/>
            <a:ext cx="1819656" cy="25603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450" b="1">
                <a:solidFill>
                  <a:srgbClr val="C9544A"/>
                </a:solidFill>
                <a:latin typeface="Microsoft YaHei"/>
              </a:rPr>
              <a:t>文档齐全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8864" y="1993392"/>
            <a:ext cx="1856231" cy="29260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19" b="0">
                <a:solidFill>
                  <a:srgbClr val="2B2B2B"/>
                </a:solidFill>
                <a:latin typeface="Microsoft YaHei"/>
              </a:rPr>
              <a:t>D-01 ~ D-12 + 管理表单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3246120"/>
            <a:ext cx="9464040" cy="1444752"/>
          </a:xfrm>
          <a:prstGeom prst="roundRect">
            <a:avLst/>
          </a:prstGeom>
          <a:solidFill>
            <a:srgbClr val="E8F4EC"/>
          </a:solidFill>
          <a:ln w="12700">
            <a:solidFill>
              <a:srgbClr val="D5E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3474720"/>
            <a:ext cx="8823960" cy="2743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0E4F2B"/>
                </a:solidFill>
                <a:latin typeface="Microsoft YaHei"/>
              </a:rPr>
              <a:t>后续演进方向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83080" y="3886200"/>
            <a:ext cx="8046720" cy="56692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>
              <a:spcAft>
                <a:spcPts val="200"/>
              </a:spcAft>
            </a:pPr>
            <a:r>
              <a:rPr sz="1180">
                <a:solidFill>
                  <a:srgbClr val="2B2B2B"/>
                </a:solidFill>
                <a:latin typeface="Microsoft YaHei"/>
              </a:rPr>
              <a:t>• 接入更完善的监控告警和日志检索</a:t>
            </a:r>
          </a:p>
          <a:p>
            <a:pPr>
              <a:spcAft>
                <a:spcPts val="200"/>
              </a:spcAft>
            </a:pPr>
            <a:r>
              <a:rPr sz="1180">
                <a:solidFill>
                  <a:srgbClr val="2B2B2B"/>
                </a:solidFill>
                <a:latin typeface="Microsoft YaHei"/>
              </a:rPr>
              <a:t>• 优化推荐算法与用户画像，增强个性化体验</a:t>
            </a:r>
          </a:p>
          <a:p>
            <a:pPr>
              <a:spcAft>
                <a:spcPts val="200"/>
              </a:spcAft>
            </a:pPr>
            <a:r>
              <a:rPr sz="1180">
                <a:solidFill>
                  <a:srgbClr val="2B2B2B"/>
                </a:solidFill>
                <a:latin typeface="Microsoft YaHei"/>
              </a:rPr>
              <a:t>• 按业务增长拆分服务，并引入更严格的自动化测试覆盖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08760" y="5138928"/>
            <a:ext cx="8686800" cy="438912"/>
          </a:xfrm>
          <a:prstGeom prst="roundRect">
            <a:avLst/>
          </a:prstGeom>
          <a:solidFill>
            <a:srgbClr val="FFFBF2"/>
          </a:solidFill>
          <a:ln w="12700">
            <a:solidFill>
              <a:srgbClr val="EEDE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37360" y="5285232"/>
            <a:ext cx="8229600" cy="16459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220" b="1">
                <a:solidFill>
                  <a:srgbClr val="6B4F3A"/>
                </a:solidFill>
                <a:latin typeface="Microsoft YaHei"/>
              </a:rPr>
              <a:t>目标：从课程成果继续演进为真实可运营系统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6327648"/>
            <a:ext cx="4389120" cy="20116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888888"/>
                </a:solidFill>
                <a:latin typeface="Microsoft YaHei"/>
              </a:rPr>
              <a:t>NekoCafé 智慧餐饮预约平台 · 第 3 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0"/>
          </a:xfrm>
          <a:prstGeom prst="rect">
            <a:avLst/>
          </a:prstGeom>
          <a:solidFill>
            <a:srgbClr val="1A7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</a:rPr>
              <a:t>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l"/>
            <a:r>
              <a:rPr sz="1000" b="0">
                <a:solidFill>
                  <a:srgbClr val="999999"/>
                </a:solidFill>
                <a:latin typeface="Microsoft YaHei"/>
              </a:rPr>
              <a:t>17 / 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9966960" cy="5943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3400" b="1">
                <a:solidFill>
                  <a:srgbClr val="0E4F2B"/>
                </a:solidFill>
                <a:latin typeface="Microsoft YaHei"/>
              </a:rPr>
              <a:t>谢谢评委老师！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969264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800" b="0">
                <a:solidFill>
                  <a:srgbClr val="6B4F3A"/>
                </a:solidFill>
                <a:latin typeface="Microsoft YaHei"/>
              </a:rPr>
              <a:t>欢迎围绕业务设计、数据库并发、CI/CD 云部署与团队协作提问。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3337560"/>
            <a:ext cx="704088" cy="292608"/>
          </a:xfrm>
          <a:prstGeom prst="roundRect">
            <a:avLst/>
          </a:prstGeom>
          <a:solidFill>
            <a:srgbClr val="E8F4EC"/>
          </a:solidFill>
          <a:ln w="6350">
            <a:solidFill>
              <a:srgbClr val="E8F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39696" y="3387852"/>
            <a:ext cx="630936" cy="182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E4F2B"/>
                </a:solidFill>
                <a:latin typeface="Microsoft YaHei"/>
              </a:rPr>
              <a:t>业务闭环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3337560"/>
            <a:ext cx="704088" cy="292608"/>
          </a:xfrm>
          <a:prstGeom prst="roundRect">
            <a:avLst/>
          </a:prstGeom>
          <a:solidFill>
            <a:srgbClr val="E8F4EC"/>
          </a:solidFill>
          <a:ln w="6350">
            <a:solidFill>
              <a:srgbClr val="E8F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85615" y="3387852"/>
            <a:ext cx="630936" cy="182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E4F2B"/>
                </a:solidFill>
                <a:latin typeface="Microsoft YaHei"/>
              </a:rPr>
              <a:t>架构设计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94960" y="3337560"/>
            <a:ext cx="640080" cy="292608"/>
          </a:xfrm>
          <a:prstGeom prst="roundRect">
            <a:avLst/>
          </a:prstGeom>
          <a:solidFill>
            <a:srgbClr val="E8F4EC"/>
          </a:solidFill>
          <a:ln w="6350">
            <a:solidFill>
              <a:srgbClr val="E8F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31536" y="3387852"/>
            <a:ext cx="566928" cy="182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E4F2B"/>
                </a:solidFill>
                <a:latin typeface="Microsoft YaHei"/>
              </a:rPr>
              <a:t>数据库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20840" y="3337560"/>
            <a:ext cx="822960" cy="292608"/>
          </a:xfrm>
          <a:prstGeom prst="roundRect">
            <a:avLst/>
          </a:prstGeom>
          <a:solidFill>
            <a:srgbClr val="E8F4EC"/>
          </a:solidFill>
          <a:ln w="6350">
            <a:solidFill>
              <a:srgbClr val="E8F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57416" y="3387852"/>
            <a:ext cx="749808" cy="182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E4F2B"/>
                </a:solidFill>
                <a:latin typeface="Microsoft YaHei"/>
              </a:rPr>
              <a:t>CI/CD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3337560"/>
            <a:ext cx="640080" cy="292608"/>
          </a:xfrm>
          <a:prstGeom prst="roundRect">
            <a:avLst/>
          </a:prstGeom>
          <a:solidFill>
            <a:srgbClr val="E8F4EC"/>
          </a:solidFill>
          <a:ln w="6350">
            <a:solidFill>
              <a:srgbClr val="E8F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29015" y="3387852"/>
            <a:ext cx="566928" cy="1828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0E4F2B"/>
                </a:solidFill>
                <a:latin typeface="Microsoft YaHei"/>
              </a:rPr>
              <a:t>云部署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30368" y="4251960"/>
            <a:ext cx="1280160" cy="5486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ctr">
              <a:spcAft>
                <a:spcPts val="200"/>
              </a:spcAft>
            </a:pPr>
            <a:r>
              <a:rPr sz="3800" b="0">
                <a:solidFill>
                  <a:srgbClr val="1A7A3D"/>
                </a:solidFill>
                <a:latin typeface="Microsoft YaHei"/>
              </a:rPr>
              <a:t>🐾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6327648"/>
            <a:ext cx="4389120" cy="201168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0">
                <a:solidFill>
                  <a:srgbClr val="888888"/>
                </a:solidFill>
                <a:latin typeface="Microsoft YaHei"/>
              </a:rPr>
              <a:t>NekoCafé 智慧餐饮预约平台 · 第 3 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